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5" r:id="rId3"/>
    <p:sldId id="257" r:id="rId4"/>
    <p:sldId id="258" r:id="rId5"/>
    <p:sldId id="259" r:id="rId6"/>
    <p:sldId id="260" r:id="rId7"/>
    <p:sldId id="261" r:id="rId8"/>
    <p:sldId id="272" r:id="rId9"/>
    <p:sldId id="263" r:id="rId10"/>
    <p:sldId id="264" r:id="rId11"/>
    <p:sldId id="265" r:id="rId12"/>
    <p:sldId id="273" r:id="rId13"/>
    <p:sldId id="271" r:id="rId14"/>
    <p:sldId id="266" r:id="rId15"/>
    <p:sldId id="267" r:id="rId16"/>
    <p:sldId id="268" r:id="rId17"/>
    <p:sldId id="269"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0"/>
    <p:restoredTop sz="94629"/>
  </p:normalViewPr>
  <p:slideViewPr>
    <p:cSldViewPr snapToGrid="0" snapToObjects="1">
      <p:cViewPr varScale="1">
        <p:scale>
          <a:sx n="103" d="100"/>
          <a:sy n="103" d="100"/>
        </p:scale>
        <p:origin x="15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4E65F0-A0FD-400E-BA24-B9A3FDEB425F}"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C45F8E63-FA93-491C-A982-F628D7ADA561}">
      <dgm:prSet/>
      <dgm:spPr/>
      <dgm:t>
        <a:bodyPr/>
        <a:lstStyle/>
        <a:p>
          <a:pPr>
            <a:lnSpc>
              <a:spcPct val="100000"/>
            </a:lnSpc>
          </a:pPr>
          <a:r>
            <a:rPr lang="en-US" b="0" i="0" dirty="0"/>
            <a:t>Predicted loan approvals using Decision Tree and Logistic Regression.</a:t>
          </a:r>
          <a:endParaRPr lang="en-US" dirty="0"/>
        </a:p>
      </dgm:t>
    </dgm:pt>
    <dgm:pt modelId="{E573A5A1-768A-4992-A681-6E22D78AB8BB}" type="parTrans" cxnId="{AE22B047-263F-46B8-BD3E-6B1F4509C3A1}">
      <dgm:prSet/>
      <dgm:spPr/>
      <dgm:t>
        <a:bodyPr/>
        <a:lstStyle/>
        <a:p>
          <a:endParaRPr lang="en-US"/>
        </a:p>
      </dgm:t>
    </dgm:pt>
    <dgm:pt modelId="{9A6E6F81-81CF-4D1F-A3B1-7518D97EF41A}" type="sibTrans" cxnId="{AE22B047-263F-46B8-BD3E-6B1F4509C3A1}">
      <dgm:prSet/>
      <dgm:spPr/>
      <dgm:t>
        <a:bodyPr/>
        <a:lstStyle/>
        <a:p>
          <a:endParaRPr lang="en-US"/>
        </a:p>
      </dgm:t>
    </dgm:pt>
    <dgm:pt modelId="{017B75B5-3B31-4452-B79F-7D0E917B9C16}">
      <dgm:prSet/>
      <dgm:spPr/>
      <dgm:t>
        <a:bodyPr/>
        <a:lstStyle/>
        <a:p>
          <a:pPr>
            <a:lnSpc>
              <a:spcPct val="100000"/>
            </a:lnSpc>
          </a:pPr>
          <a:r>
            <a:rPr lang="en-US"/>
            <a:t>Top predictors: Loan Grade, Income, Employment Length.</a:t>
          </a:r>
        </a:p>
      </dgm:t>
    </dgm:pt>
    <dgm:pt modelId="{8DEDF470-A101-4901-82A8-5751950A72E7}" type="parTrans" cxnId="{85018A59-21AC-4B09-A392-97DA35C7B765}">
      <dgm:prSet/>
      <dgm:spPr/>
      <dgm:t>
        <a:bodyPr/>
        <a:lstStyle/>
        <a:p>
          <a:endParaRPr lang="en-US"/>
        </a:p>
      </dgm:t>
    </dgm:pt>
    <dgm:pt modelId="{1DDEDE3F-7B8F-4BD7-884D-8F08B4AD392E}" type="sibTrans" cxnId="{85018A59-21AC-4B09-A392-97DA35C7B765}">
      <dgm:prSet/>
      <dgm:spPr/>
      <dgm:t>
        <a:bodyPr/>
        <a:lstStyle/>
        <a:p>
          <a:endParaRPr lang="en-US"/>
        </a:p>
      </dgm:t>
    </dgm:pt>
    <dgm:pt modelId="{121F1421-7BB0-4537-83AC-326DE4ED0D25}">
      <dgm:prSet/>
      <dgm:spPr/>
      <dgm:t>
        <a:bodyPr/>
        <a:lstStyle/>
        <a:p>
          <a:pPr>
            <a:lnSpc>
              <a:spcPct val="100000"/>
            </a:lnSpc>
          </a:pPr>
          <a:r>
            <a:rPr lang="en-US" dirty="0"/>
            <a:t>Decision Tree achieved 100% accuracy.</a:t>
          </a:r>
        </a:p>
      </dgm:t>
    </dgm:pt>
    <dgm:pt modelId="{82564594-4D47-412B-B01B-99F63B484A67}" type="parTrans" cxnId="{B4E8E04D-DA15-4796-BD2A-A1E178F0929F}">
      <dgm:prSet/>
      <dgm:spPr/>
      <dgm:t>
        <a:bodyPr/>
        <a:lstStyle/>
        <a:p>
          <a:endParaRPr lang="en-US"/>
        </a:p>
      </dgm:t>
    </dgm:pt>
    <dgm:pt modelId="{5F1767F4-10DD-4953-927E-026A2C57F339}" type="sibTrans" cxnId="{B4E8E04D-DA15-4796-BD2A-A1E178F0929F}">
      <dgm:prSet/>
      <dgm:spPr/>
      <dgm:t>
        <a:bodyPr/>
        <a:lstStyle/>
        <a:p>
          <a:endParaRPr lang="en-US"/>
        </a:p>
      </dgm:t>
    </dgm:pt>
    <dgm:pt modelId="{ADFFFF4F-A83F-4843-B222-BBD3AA90E6B3}">
      <dgm:prSet/>
      <dgm:spPr/>
      <dgm:t>
        <a:bodyPr/>
        <a:lstStyle/>
        <a:p>
          <a:pPr>
            <a:lnSpc>
              <a:spcPct val="100000"/>
            </a:lnSpc>
          </a:pPr>
          <a:r>
            <a:rPr lang="en-US"/>
            <a:t>Logistic Regression achieved 83% accuracy .</a:t>
          </a:r>
        </a:p>
      </dgm:t>
    </dgm:pt>
    <dgm:pt modelId="{86FFF761-AAA5-4278-A4F4-20380E0FCC9D}" type="parTrans" cxnId="{16979EE9-76FB-4512-9DCB-5D8E711EE77D}">
      <dgm:prSet/>
      <dgm:spPr/>
      <dgm:t>
        <a:bodyPr/>
        <a:lstStyle/>
        <a:p>
          <a:endParaRPr lang="en-US"/>
        </a:p>
      </dgm:t>
    </dgm:pt>
    <dgm:pt modelId="{BA055CA4-DBF2-452B-BE3A-97ED540024EF}" type="sibTrans" cxnId="{16979EE9-76FB-4512-9DCB-5D8E711EE77D}">
      <dgm:prSet/>
      <dgm:spPr/>
      <dgm:t>
        <a:bodyPr/>
        <a:lstStyle/>
        <a:p>
          <a:endParaRPr lang="en-US"/>
        </a:p>
      </dgm:t>
    </dgm:pt>
    <dgm:pt modelId="{9730F2C9-9F88-4461-9155-B53D5AE48936}" type="pres">
      <dgm:prSet presAssocID="{E14E65F0-A0FD-400E-BA24-B9A3FDEB425F}" presName="root" presStyleCnt="0">
        <dgm:presLayoutVars>
          <dgm:dir/>
          <dgm:resizeHandles val="exact"/>
        </dgm:presLayoutVars>
      </dgm:prSet>
      <dgm:spPr/>
    </dgm:pt>
    <dgm:pt modelId="{1A637503-9196-4EC1-9769-9EF3B23F9D7B}" type="pres">
      <dgm:prSet presAssocID="{C45F8E63-FA93-491C-A982-F628D7ADA561}" presName="compNode" presStyleCnt="0"/>
      <dgm:spPr/>
    </dgm:pt>
    <dgm:pt modelId="{8236CD42-8618-4A2F-B6FE-17BFDE220321}" type="pres">
      <dgm:prSet presAssocID="{C45F8E63-FA93-491C-A982-F628D7ADA561}" presName="bgRect" presStyleLbl="bgShp" presStyleIdx="0" presStyleCnt="4"/>
      <dgm:spPr/>
    </dgm:pt>
    <dgm:pt modelId="{252D8768-3C2F-4035-A4CF-65B66D200558}" type="pres">
      <dgm:prSet presAssocID="{C45F8E63-FA93-491C-A982-F628D7ADA561}"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96F2AB0C-ED44-4CD9-860A-C773E52E127F}" type="pres">
      <dgm:prSet presAssocID="{C45F8E63-FA93-491C-A982-F628D7ADA561}" presName="spaceRect" presStyleCnt="0"/>
      <dgm:spPr/>
    </dgm:pt>
    <dgm:pt modelId="{046BE170-712A-42F1-975D-3222E3846C36}" type="pres">
      <dgm:prSet presAssocID="{C45F8E63-FA93-491C-A982-F628D7ADA561}" presName="parTx" presStyleLbl="revTx" presStyleIdx="0" presStyleCnt="4">
        <dgm:presLayoutVars>
          <dgm:chMax val="0"/>
          <dgm:chPref val="0"/>
        </dgm:presLayoutVars>
      </dgm:prSet>
      <dgm:spPr/>
    </dgm:pt>
    <dgm:pt modelId="{E9646A3F-7129-4B78-97AB-75BBE2EF11EE}" type="pres">
      <dgm:prSet presAssocID="{9A6E6F81-81CF-4D1F-A3B1-7518D97EF41A}" presName="sibTrans" presStyleCnt="0"/>
      <dgm:spPr/>
    </dgm:pt>
    <dgm:pt modelId="{E203D76B-220F-40E3-B3C0-E1FC416F85A5}" type="pres">
      <dgm:prSet presAssocID="{017B75B5-3B31-4452-B79F-7D0E917B9C16}" presName="compNode" presStyleCnt="0"/>
      <dgm:spPr/>
    </dgm:pt>
    <dgm:pt modelId="{3AABB286-B8C3-4BBE-95A2-9A3C32DEA375}" type="pres">
      <dgm:prSet presAssocID="{017B75B5-3B31-4452-B79F-7D0E917B9C16}" presName="bgRect" presStyleLbl="bgShp" presStyleIdx="1" presStyleCnt="4"/>
      <dgm:spPr/>
    </dgm:pt>
    <dgm:pt modelId="{8226917C-A137-4093-AA51-7010E30ED36B}" type="pres">
      <dgm:prSet presAssocID="{017B75B5-3B31-4452-B79F-7D0E917B9C16}"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llar"/>
        </a:ext>
      </dgm:extLst>
    </dgm:pt>
    <dgm:pt modelId="{611F426B-67CA-4A89-8B71-CD400A0B43E4}" type="pres">
      <dgm:prSet presAssocID="{017B75B5-3B31-4452-B79F-7D0E917B9C16}" presName="spaceRect" presStyleCnt="0"/>
      <dgm:spPr/>
    </dgm:pt>
    <dgm:pt modelId="{1194720B-1B9B-4F90-9C6D-D3370813A32B}" type="pres">
      <dgm:prSet presAssocID="{017B75B5-3B31-4452-B79F-7D0E917B9C16}" presName="parTx" presStyleLbl="revTx" presStyleIdx="1" presStyleCnt="4">
        <dgm:presLayoutVars>
          <dgm:chMax val="0"/>
          <dgm:chPref val="0"/>
        </dgm:presLayoutVars>
      </dgm:prSet>
      <dgm:spPr/>
    </dgm:pt>
    <dgm:pt modelId="{3053D99B-33D8-4843-B24B-FC882073C030}" type="pres">
      <dgm:prSet presAssocID="{1DDEDE3F-7B8F-4BD7-884D-8F08B4AD392E}" presName="sibTrans" presStyleCnt="0"/>
      <dgm:spPr/>
    </dgm:pt>
    <dgm:pt modelId="{43DAB747-7AB8-48CF-A430-7EB20695E694}" type="pres">
      <dgm:prSet presAssocID="{121F1421-7BB0-4537-83AC-326DE4ED0D25}" presName="compNode" presStyleCnt="0"/>
      <dgm:spPr/>
    </dgm:pt>
    <dgm:pt modelId="{722F2DCD-8410-443B-A57E-215869E0E624}" type="pres">
      <dgm:prSet presAssocID="{121F1421-7BB0-4537-83AC-326DE4ED0D25}" presName="bgRect" presStyleLbl="bgShp" presStyleIdx="2" presStyleCnt="4"/>
      <dgm:spPr/>
    </dgm:pt>
    <dgm:pt modelId="{C28EFA65-4EDA-4BBA-AC47-899DB76F484E}" type="pres">
      <dgm:prSet presAssocID="{121F1421-7BB0-4537-83AC-326DE4ED0D2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r"/>
        </a:ext>
      </dgm:extLst>
    </dgm:pt>
    <dgm:pt modelId="{B24420B8-59C4-4E45-9CE9-B8DF31A53F34}" type="pres">
      <dgm:prSet presAssocID="{121F1421-7BB0-4537-83AC-326DE4ED0D25}" presName="spaceRect" presStyleCnt="0"/>
      <dgm:spPr/>
    </dgm:pt>
    <dgm:pt modelId="{082E1B5C-E180-4A18-9333-DA9FF4F2CE70}" type="pres">
      <dgm:prSet presAssocID="{121F1421-7BB0-4537-83AC-326DE4ED0D25}" presName="parTx" presStyleLbl="revTx" presStyleIdx="2" presStyleCnt="4">
        <dgm:presLayoutVars>
          <dgm:chMax val="0"/>
          <dgm:chPref val="0"/>
        </dgm:presLayoutVars>
      </dgm:prSet>
      <dgm:spPr/>
    </dgm:pt>
    <dgm:pt modelId="{F9E3FA81-DA78-4D0D-8686-85B1D02E9CA6}" type="pres">
      <dgm:prSet presAssocID="{5F1767F4-10DD-4953-927E-026A2C57F339}" presName="sibTrans" presStyleCnt="0"/>
      <dgm:spPr/>
    </dgm:pt>
    <dgm:pt modelId="{AEE8CF1B-4AAA-4926-BAC1-4CD691EA0419}" type="pres">
      <dgm:prSet presAssocID="{ADFFFF4F-A83F-4843-B222-BBD3AA90E6B3}" presName="compNode" presStyleCnt="0"/>
      <dgm:spPr/>
    </dgm:pt>
    <dgm:pt modelId="{3610FD27-526C-452B-9B5E-323B73FC9957}" type="pres">
      <dgm:prSet presAssocID="{ADFFFF4F-A83F-4843-B222-BBD3AA90E6B3}" presName="bgRect" presStyleLbl="bgShp" presStyleIdx="3" presStyleCnt="4"/>
      <dgm:spPr/>
    </dgm:pt>
    <dgm:pt modelId="{2D5FFDF4-98E2-4138-B4E6-6FCB133CBFBA}" type="pres">
      <dgm:prSet presAssocID="{ADFFFF4F-A83F-4843-B222-BBD3AA90E6B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rget"/>
        </a:ext>
      </dgm:extLst>
    </dgm:pt>
    <dgm:pt modelId="{3B5A3245-2860-4548-9008-6CC8C617A6BF}" type="pres">
      <dgm:prSet presAssocID="{ADFFFF4F-A83F-4843-B222-BBD3AA90E6B3}" presName="spaceRect" presStyleCnt="0"/>
      <dgm:spPr/>
    </dgm:pt>
    <dgm:pt modelId="{95F401F8-809E-43CB-A515-E0F2D1E3549C}" type="pres">
      <dgm:prSet presAssocID="{ADFFFF4F-A83F-4843-B222-BBD3AA90E6B3}" presName="parTx" presStyleLbl="revTx" presStyleIdx="3" presStyleCnt="4">
        <dgm:presLayoutVars>
          <dgm:chMax val="0"/>
          <dgm:chPref val="0"/>
        </dgm:presLayoutVars>
      </dgm:prSet>
      <dgm:spPr/>
    </dgm:pt>
  </dgm:ptLst>
  <dgm:cxnLst>
    <dgm:cxn modelId="{8931AB2A-0E3C-854E-93CF-6D0A8950A9A0}" type="presOf" srcId="{017B75B5-3B31-4452-B79F-7D0E917B9C16}" destId="{1194720B-1B9B-4F90-9C6D-D3370813A32B}" srcOrd="0" destOrd="0" presId="urn:microsoft.com/office/officeart/2018/2/layout/IconVerticalSolidList"/>
    <dgm:cxn modelId="{1C60F22B-7BA8-6746-AE35-D6AE69E68587}" type="presOf" srcId="{C45F8E63-FA93-491C-A982-F628D7ADA561}" destId="{046BE170-712A-42F1-975D-3222E3846C36}" srcOrd="0" destOrd="0" presId="urn:microsoft.com/office/officeart/2018/2/layout/IconVerticalSolidList"/>
    <dgm:cxn modelId="{AE22B047-263F-46B8-BD3E-6B1F4509C3A1}" srcId="{E14E65F0-A0FD-400E-BA24-B9A3FDEB425F}" destId="{C45F8E63-FA93-491C-A982-F628D7ADA561}" srcOrd="0" destOrd="0" parTransId="{E573A5A1-768A-4992-A681-6E22D78AB8BB}" sibTransId="{9A6E6F81-81CF-4D1F-A3B1-7518D97EF41A}"/>
    <dgm:cxn modelId="{B4E8E04D-DA15-4796-BD2A-A1E178F0929F}" srcId="{E14E65F0-A0FD-400E-BA24-B9A3FDEB425F}" destId="{121F1421-7BB0-4537-83AC-326DE4ED0D25}" srcOrd="2" destOrd="0" parTransId="{82564594-4D47-412B-B01B-99F63B484A67}" sibTransId="{5F1767F4-10DD-4953-927E-026A2C57F339}"/>
    <dgm:cxn modelId="{85018A59-21AC-4B09-A392-97DA35C7B765}" srcId="{E14E65F0-A0FD-400E-BA24-B9A3FDEB425F}" destId="{017B75B5-3B31-4452-B79F-7D0E917B9C16}" srcOrd="1" destOrd="0" parTransId="{8DEDF470-A101-4901-82A8-5751950A72E7}" sibTransId="{1DDEDE3F-7B8F-4BD7-884D-8F08B4AD392E}"/>
    <dgm:cxn modelId="{83B7D390-FE2E-E14A-B548-E7818107610B}" type="presOf" srcId="{121F1421-7BB0-4537-83AC-326DE4ED0D25}" destId="{082E1B5C-E180-4A18-9333-DA9FF4F2CE70}" srcOrd="0" destOrd="0" presId="urn:microsoft.com/office/officeart/2018/2/layout/IconVerticalSolidList"/>
    <dgm:cxn modelId="{58E65F94-F655-EB44-9ED7-985B1EC8D4E5}" type="presOf" srcId="{E14E65F0-A0FD-400E-BA24-B9A3FDEB425F}" destId="{9730F2C9-9F88-4461-9155-B53D5AE48936}" srcOrd="0" destOrd="0" presId="urn:microsoft.com/office/officeart/2018/2/layout/IconVerticalSolidList"/>
    <dgm:cxn modelId="{4D8046A8-402F-3047-9EC5-D324953489CD}" type="presOf" srcId="{ADFFFF4F-A83F-4843-B222-BBD3AA90E6B3}" destId="{95F401F8-809E-43CB-A515-E0F2D1E3549C}" srcOrd="0" destOrd="0" presId="urn:microsoft.com/office/officeart/2018/2/layout/IconVerticalSolidList"/>
    <dgm:cxn modelId="{16979EE9-76FB-4512-9DCB-5D8E711EE77D}" srcId="{E14E65F0-A0FD-400E-BA24-B9A3FDEB425F}" destId="{ADFFFF4F-A83F-4843-B222-BBD3AA90E6B3}" srcOrd="3" destOrd="0" parTransId="{86FFF761-AAA5-4278-A4F4-20380E0FCC9D}" sibTransId="{BA055CA4-DBF2-452B-BE3A-97ED540024EF}"/>
    <dgm:cxn modelId="{9CE17F6C-CA50-CD4E-9987-AE9D4738D2F7}" type="presParOf" srcId="{9730F2C9-9F88-4461-9155-B53D5AE48936}" destId="{1A637503-9196-4EC1-9769-9EF3B23F9D7B}" srcOrd="0" destOrd="0" presId="urn:microsoft.com/office/officeart/2018/2/layout/IconVerticalSolidList"/>
    <dgm:cxn modelId="{E284328D-A0D2-824F-8F54-DAA9C99AD715}" type="presParOf" srcId="{1A637503-9196-4EC1-9769-9EF3B23F9D7B}" destId="{8236CD42-8618-4A2F-B6FE-17BFDE220321}" srcOrd="0" destOrd="0" presId="urn:microsoft.com/office/officeart/2018/2/layout/IconVerticalSolidList"/>
    <dgm:cxn modelId="{CE94C765-9713-D544-8795-52AAE1246A4B}" type="presParOf" srcId="{1A637503-9196-4EC1-9769-9EF3B23F9D7B}" destId="{252D8768-3C2F-4035-A4CF-65B66D200558}" srcOrd="1" destOrd="0" presId="urn:microsoft.com/office/officeart/2018/2/layout/IconVerticalSolidList"/>
    <dgm:cxn modelId="{5E3F7811-301A-9A40-9DB7-F52F57232B48}" type="presParOf" srcId="{1A637503-9196-4EC1-9769-9EF3B23F9D7B}" destId="{96F2AB0C-ED44-4CD9-860A-C773E52E127F}" srcOrd="2" destOrd="0" presId="urn:microsoft.com/office/officeart/2018/2/layout/IconVerticalSolidList"/>
    <dgm:cxn modelId="{A531AE11-5EE5-FD48-9040-E26EF8415A3B}" type="presParOf" srcId="{1A637503-9196-4EC1-9769-9EF3B23F9D7B}" destId="{046BE170-712A-42F1-975D-3222E3846C36}" srcOrd="3" destOrd="0" presId="urn:microsoft.com/office/officeart/2018/2/layout/IconVerticalSolidList"/>
    <dgm:cxn modelId="{3C759F3E-4011-2147-8A85-F59D62D83242}" type="presParOf" srcId="{9730F2C9-9F88-4461-9155-B53D5AE48936}" destId="{E9646A3F-7129-4B78-97AB-75BBE2EF11EE}" srcOrd="1" destOrd="0" presId="urn:microsoft.com/office/officeart/2018/2/layout/IconVerticalSolidList"/>
    <dgm:cxn modelId="{7C0827AE-5BC3-4A46-B9B2-2ACAE68C6BE7}" type="presParOf" srcId="{9730F2C9-9F88-4461-9155-B53D5AE48936}" destId="{E203D76B-220F-40E3-B3C0-E1FC416F85A5}" srcOrd="2" destOrd="0" presId="urn:microsoft.com/office/officeart/2018/2/layout/IconVerticalSolidList"/>
    <dgm:cxn modelId="{04558E2A-D386-A64A-8253-782C87FCA31E}" type="presParOf" srcId="{E203D76B-220F-40E3-B3C0-E1FC416F85A5}" destId="{3AABB286-B8C3-4BBE-95A2-9A3C32DEA375}" srcOrd="0" destOrd="0" presId="urn:microsoft.com/office/officeart/2018/2/layout/IconVerticalSolidList"/>
    <dgm:cxn modelId="{21F6C74B-6FF5-9744-90BE-7AC54C334ACB}" type="presParOf" srcId="{E203D76B-220F-40E3-B3C0-E1FC416F85A5}" destId="{8226917C-A137-4093-AA51-7010E30ED36B}" srcOrd="1" destOrd="0" presId="urn:microsoft.com/office/officeart/2018/2/layout/IconVerticalSolidList"/>
    <dgm:cxn modelId="{178A2355-12F1-C844-9CFC-2F2F68AB75E7}" type="presParOf" srcId="{E203D76B-220F-40E3-B3C0-E1FC416F85A5}" destId="{611F426B-67CA-4A89-8B71-CD400A0B43E4}" srcOrd="2" destOrd="0" presId="urn:microsoft.com/office/officeart/2018/2/layout/IconVerticalSolidList"/>
    <dgm:cxn modelId="{659D7815-151F-C844-860C-8DA4E0D75B09}" type="presParOf" srcId="{E203D76B-220F-40E3-B3C0-E1FC416F85A5}" destId="{1194720B-1B9B-4F90-9C6D-D3370813A32B}" srcOrd="3" destOrd="0" presId="urn:microsoft.com/office/officeart/2018/2/layout/IconVerticalSolidList"/>
    <dgm:cxn modelId="{506123C2-2CB0-BA45-B0AE-885C0BFE835C}" type="presParOf" srcId="{9730F2C9-9F88-4461-9155-B53D5AE48936}" destId="{3053D99B-33D8-4843-B24B-FC882073C030}" srcOrd="3" destOrd="0" presId="urn:microsoft.com/office/officeart/2018/2/layout/IconVerticalSolidList"/>
    <dgm:cxn modelId="{7BC9833F-D71A-C642-A2B2-12356AB45DF8}" type="presParOf" srcId="{9730F2C9-9F88-4461-9155-B53D5AE48936}" destId="{43DAB747-7AB8-48CF-A430-7EB20695E694}" srcOrd="4" destOrd="0" presId="urn:microsoft.com/office/officeart/2018/2/layout/IconVerticalSolidList"/>
    <dgm:cxn modelId="{A0683BA6-873F-6543-B4BC-8D51D90FAA9C}" type="presParOf" srcId="{43DAB747-7AB8-48CF-A430-7EB20695E694}" destId="{722F2DCD-8410-443B-A57E-215869E0E624}" srcOrd="0" destOrd="0" presId="urn:microsoft.com/office/officeart/2018/2/layout/IconVerticalSolidList"/>
    <dgm:cxn modelId="{3C9CDB43-0F59-B440-B9ED-E24049B14810}" type="presParOf" srcId="{43DAB747-7AB8-48CF-A430-7EB20695E694}" destId="{C28EFA65-4EDA-4BBA-AC47-899DB76F484E}" srcOrd="1" destOrd="0" presId="urn:microsoft.com/office/officeart/2018/2/layout/IconVerticalSolidList"/>
    <dgm:cxn modelId="{F3EAB477-B186-E945-B8ED-C7B6D7CC11B5}" type="presParOf" srcId="{43DAB747-7AB8-48CF-A430-7EB20695E694}" destId="{B24420B8-59C4-4E45-9CE9-B8DF31A53F34}" srcOrd="2" destOrd="0" presId="urn:microsoft.com/office/officeart/2018/2/layout/IconVerticalSolidList"/>
    <dgm:cxn modelId="{F5389572-43A3-6A4C-AA76-B629C9E920D6}" type="presParOf" srcId="{43DAB747-7AB8-48CF-A430-7EB20695E694}" destId="{082E1B5C-E180-4A18-9333-DA9FF4F2CE70}" srcOrd="3" destOrd="0" presId="urn:microsoft.com/office/officeart/2018/2/layout/IconVerticalSolidList"/>
    <dgm:cxn modelId="{446F7B17-D336-8143-BBF1-DD13EA9B0858}" type="presParOf" srcId="{9730F2C9-9F88-4461-9155-B53D5AE48936}" destId="{F9E3FA81-DA78-4D0D-8686-85B1D02E9CA6}" srcOrd="5" destOrd="0" presId="urn:microsoft.com/office/officeart/2018/2/layout/IconVerticalSolidList"/>
    <dgm:cxn modelId="{66207025-F235-784C-8129-C100A4702FC3}" type="presParOf" srcId="{9730F2C9-9F88-4461-9155-B53D5AE48936}" destId="{AEE8CF1B-4AAA-4926-BAC1-4CD691EA0419}" srcOrd="6" destOrd="0" presId="urn:microsoft.com/office/officeart/2018/2/layout/IconVerticalSolidList"/>
    <dgm:cxn modelId="{3AB68B14-33E3-C047-8F71-BC0A98277C5D}" type="presParOf" srcId="{AEE8CF1B-4AAA-4926-BAC1-4CD691EA0419}" destId="{3610FD27-526C-452B-9B5E-323B73FC9957}" srcOrd="0" destOrd="0" presId="urn:microsoft.com/office/officeart/2018/2/layout/IconVerticalSolidList"/>
    <dgm:cxn modelId="{A3282C12-DF6E-5746-9E6C-725BC6B237B0}" type="presParOf" srcId="{AEE8CF1B-4AAA-4926-BAC1-4CD691EA0419}" destId="{2D5FFDF4-98E2-4138-B4E6-6FCB133CBFBA}" srcOrd="1" destOrd="0" presId="urn:microsoft.com/office/officeart/2018/2/layout/IconVerticalSolidList"/>
    <dgm:cxn modelId="{56A01D27-1645-8D4A-957D-9E0B6DD7B951}" type="presParOf" srcId="{AEE8CF1B-4AAA-4926-BAC1-4CD691EA0419}" destId="{3B5A3245-2860-4548-9008-6CC8C617A6BF}" srcOrd="2" destOrd="0" presId="urn:microsoft.com/office/officeart/2018/2/layout/IconVerticalSolidList"/>
    <dgm:cxn modelId="{437F430F-D149-5F4E-B544-C17CEEC9A2A9}" type="presParOf" srcId="{AEE8CF1B-4AAA-4926-BAC1-4CD691EA0419}" destId="{95F401F8-809E-43CB-A515-E0F2D1E3549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1E3159E-9FF0-4AD0-8635-C7D8FD10B62F}"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7DBD8CB7-3C39-498F-B742-078604E1256D}">
      <dgm:prSet custT="1"/>
      <dgm:spPr/>
      <dgm:t>
        <a:bodyPr/>
        <a:lstStyle/>
        <a:p>
          <a:pPr>
            <a:lnSpc>
              <a:spcPct val="100000"/>
            </a:lnSpc>
          </a:pPr>
          <a:r>
            <a:rPr lang="en-US" sz="1200" b="0" i="0" dirty="0"/>
            <a:t>The modeling process started after the dataset underwent structural improvements along with cleaning procedures. The dataset completeness benefited from filling missing values to achieve data completeness. For machine learning models the categorical inputs received numerical values for encoding. </a:t>
          </a:r>
          <a:endParaRPr lang="en-US" sz="1200" dirty="0"/>
        </a:p>
      </dgm:t>
    </dgm:pt>
    <dgm:pt modelId="{CD413760-8815-43CB-8C63-DCB895832370}" type="parTrans" cxnId="{520F4CE3-EE7F-46CC-A339-547B4843FF24}">
      <dgm:prSet/>
      <dgm:spPr/>
      <dgm:t>
        <a:bodyPr/>
        <a:lstStyle/>
        <a:p>
          <a:endParaRPr lang="en-US"/>
        </a:p>
      </dgm:t>
    </dgm:pt>
    <dgm:pt modelId="{CDCB0453-7046-4B57-88F9-71C0AC78FC6A}" type="sibTrans" cxnId="{520F4CE3-EE7F-46CC-A339-547B4843FF24}">
      <dgm:prSet/>
      <dgm:spPr/>
      <dgm:t>
        <a:bodyPr/>
        <a:lstStyle/>
        <a:p>
          <a:endParaRPr lang="en-US"/>
        </a:p>
      </dgm:t>
    </dgm:pt>
    <dgm:pt modelId="{BA936FCB-E2DC-484B-92C9-2C9F4CFA5EC0}">
      <dgm:prSet custT="1"/>
      <dgm:spPr/>
      <dgm:t>
        <a:bodyPr/>
        <a:lstStyle/>
        <a:p>
          <a:pPr>
            <a:lnSpc>
              <a:spcPct val="100000"/>
            </a:lnSpc>
          </a:pPr>
          <a:r>
            <a:rPr lang="en-US" sz="1200" b="0" i="0" dirty="0"/>
            <a:t>The analysis included combining all necessary variables into a unified numerical vector. The dataset underwent a split into training and testing subsets for proper performance evaluation of the models.</a:t>
          </a:r>
          <a:endParaRPr lang="en-US" sz="1200" dirty="0"/>
        </a:p>
      </dgm:t>
    </dgm:pt>
    <dgm:pt modelId="{C2109769-EB2B-4EDB-9C23-DDFCDCFAB0E1}" type="parTrans" cxnId="{E3B283A3-7982-4C21-A9C5-48733DDFA874}">
      <dgm:prSet/>
      <dgm:spPr/>
      <dgm:t>
        <a:bodyPr/>
        <a:lstStyle/>
        <a:p>
          <a:endParaRPr lang="en-US"/>
        </a:p>
      </dgm:t>
    </dgm:pt>
    <dgm:pt modelId="{7C6A2E8B-1E6B-4B90-B388-4FC7D8679DE3}" type="sibTrans" cxnId="{E3B283A3-7982-4C21-A9C5-48733DDFA874}">
      <dgm:prSet/>
      <dgm:spPr/>
      <dgm:t>
        <a:bodyPr/>
        <a:lstStyle/>
        <a:p>
          <a:endParaRPr lang="en-US"/>
        </a:p>
      </dgm:t>
    </dgm:pt>
    <dgm:pt modelId="{3E98ECAF-D7A0-426E-B25C-0B3EE4F63643}" type="pres">
      <dgm:prSet presAssocID="{51E3159E-9FF0-4AD0-8635-C7D8FD10B62F}" presName="root" presStyleCnt="0">
        <dgm:presLayoutVars>
          <dgm:dir/>
          <dgm:resizeHandles val="exact"/>
        </dgm:presLayoutVars>
      </dgm:prSet>
      <dgm:spPr/>
    </dgm:pt>
    <dgm:pt modelId="{42B6FF66-4D07-4CEB-A09D-DFCEE995539F}" type="pres">
      <dgm:prSet presAssocID="{7DBD8CB7-3C39-498F-B742-078604E1256D}" presName="compNode" presStyleCnt="0"/>
      <dgm:spPr/>
    </dgm:pt>
    <dgm:pt modelId="{2866E5DB-BEAD-4774-8D7E-BC0AF6195166}" type="pres">
      <dgm:prSet presAssocID="{7DBD8CB7-3C39-498F-B742-078604E1256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F1717633-7B5E-41EC-A70D-E40C6B61755C}" type="pres">
      <dgm:prSet presAssocID="{7DBD8CB7-3C39-498F-B742-078604E1256D}" presName="spaceRect" presStyleCnt="0"/>
      <dgm:spPr/>
    </dgm:pt>
    <dgm:pt modelId="{373BD30A-7580-42F1-9195-3A93D252CE4A}" type="pres">
      <dgm:prSet presAssocID="{7DBD8CB7-3C39-498F-B742-078604E1256D}" presName="textRect" presStyleLbl="revTx" presStyleIdx="0" presStyleCnt="2" custScaleY="138696">
        <dgm:presLayoutVars>
          <dgm:chMax val="1"/>
          <dgm:chPref val="1"/>
        </dgm:presLayoutVars>
      </dgm:prSet>
      <dgm:spPr/>
    </dgm:pt>
    <dgm:pt modelId="{539B3FBC-C2B6-4B05-8113-03CB7EB077A3}" type="pres">
      <dgm:prSet presAssocID="{CDCB0453-7046-4B57-88F9-71C0AC78FC6A}" presName="sibTrans" presStyleCnt="0"/>
      <dgm:spPr/>
    </dgm:pt>
    <dgm:pt modelId="{B568D3D9-D799-450E-B200-3DF82F03CB63}" type="pres">
      <dgm:prSet presAssocID="{BA936FCB-E2DC-484B-92C9-2C9F4CFA5EC0}" presName="compNode" presStyleCnt="0"/>
      <dgm:spPr/>
    </dgm:pt>
    <dgm:pt modelId="{5C84EC47-EBC6-4C25-8B7B-13BAD9BD7684}" type="pres">
      <dgm:prSet presAssocID="{BA936FCB-E2DC-484B-92C9-2C9F4CFA5EC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resentation with Checklist"/>
        </a:ext>
      </dgm:extLst>
    </dgm:pt>
    <dgm:pt modelId="{90A17277-DDAD-49BB-B3B0-3F122F4DABC9}" type="pres">
      <dgm:prSet presAssocID="{BA936FCB-E2DC-484B-92C9-2C9F4CFA5EC0}" presName="spaceRect" presStyleCnt="0"/>
      <dgm:spPr/>
    </dgm:pt>
    <dgm:pt modelId="{603A0A71-27E7-4966-B8D6-84D3C16880A6}" type="pres">
      <dgm:prSet presAssocID="{BA936FCB-E2DC-484B-92C9-2C9F4CFA5EC0}" presName="textRect" presStyleLbl="revTx" presStyleIdx="1" presStyleCnt="2" custScaleY="108344" custLinFactNeighborX="-4321" custLinFactNeighborY="-19786">
        <dgm:presLayoutVars>
          <dgm:chMax val="1"/>
          <dgm:chPref val="1"/>
        </dgm:presLayoutVars>
      </dgm:prSet>
      <dgm:spPr/>
    </dgm:pt>
  </dgm:ptLst>
  <dgm:cxnLst>
    <dgm:cxn modelId="{47B02F4C-F79C-46A6-BC32-8069D3E8DF29}" type="presOf" srcId="{51E3159E-9FF0-4AD0-8635-C7D8FD10B62F}" destId="{3E98ECAF-D7A0-426E-B25C-0B3EE4F63643}" srcOrd="0" destOrd="0" presId="urn:microsoft.com/office/officeart/2018/2/layout/IconLabelList"/>
    <dgm:cxn modelId="{E3B283A3-7982-4C21-A9C5-48733DDFA874}" srcId="{51E3159E-9FF0-4AD0-8635-C7D8FD10B62F}" destId="{BA936FCB-E2DC-484B-92C9-2C9F4CFA5EC0}" srcOrd="1" destOrd="0" parTransId="{C2109769-EB2B-4EDB-9C23-DDFCDCFAB0E1}" sibTransId="{7C6A2E8B-1E6B-4B90-B388-4FC7D8679DE3}"/>
    <dgm:cxn modelId="{723A43B7-870F-4602-8106-CEE91B0AA139}" type="presOf" srcId="{7DBD8CB7-3C39-498F-B742-078604E1256D}" destId="{373BD30A-7580-42F1-9195-3A93D252CE4A}" srcOrd="0" destOrd="0" presId="urn:microsoft.com/office/officeart/2018/2/layout/IconLabelList"/>
    <dgm:cxn modelId="{DD0D15D9-E2C1-46B1-A920-013115FACF32}" type="presOf" srcId="{BA936FCB-E2DC-484B-92C9-2C9F4CFA5EC0}" destId="{603A0A71-27E7-4966-B8D6-84D3C16880A6}" srcOrd="0" destOrd="0" presId="urn:microsoft.com/office/officeart/2018/2/layout/IconLabelList"/>
    <dgm:cxn modelId="{520F4CE3-EE7F-46CC-A339-547B4843FF24}" srcId="{51E3159E-9FF0-4AD0-8635-C7D8FD10B62F}" destId="{7DBD8CB7-3C39-498F-B742-078604E1256D}" srcOrd="0" destOrd="0" parTransId="{CD413760-8815-43CB-8C63-DCB895832370}" sibTransId="{CDCB0453-7046-4B57-88F9-71C0AC78FC6A}"/>
    <dgm:cxn modelId="{8FFB9270-3439-4540-994F-E5CDA7B9D298}" type="presParOf" srcId="{3E98ECAF-D7A0-426E-B25C-0B3EE4F63643}" destId="{42B6FF66-4D07-4CEB-A09D-DFCEE995539F}" srcOrd="0" destOrd="0" presId="urn:microsoft.com/office/officeart/2018/2/layout/IconLabelList"/>
    <dgm:cxn modelId="{3AAD12AA-556A-4C00-839E-FBF1BB8FBE98}" type="presParOf" srcId="{42B6FF66-4D07-4CEB-A09D-DFCEE995539F}" destId="{2866E5DB-BEAD-4774-8D7E-BC0AF6195166}" srcOrd="0" destOrd="0" presId="urn:microsoft.com/office/officeart/2018/2/layout/IconLabelList"/>
    <dgm:cxn modelId="{5131988F-521D-4161-AA71-89825612B030}" type="presParOf" srcId="{42B6FF66-4D07-4CEB-A09D-DFCEE995539F}" destId="{F1717633-7B5E-41EC-A70D-E40C6B61755C}" srcOrd="1" destOrd="0" presId="urn:microsoft.com/office/officeart/2018/2/layout/IconLabelList"/>
    <dgm:cxn modelId="{2194A693-3DD5-4979-B4A1-C3FD8664C755}" type="presParOf" srcId="{42B6FF66-4D07-4CEB-A09D-DFCEE995539F}" destId="{373BD30A-7580-42F1-9195-3A93D252CE4A}" srcOrd="2" destOrd="0" presId="urn:microsoft.com/office/officeart/2018/2/layout/IconLabelList"/>
    <dgm:cxn modelId="{764C8DBE-863D-4824-BCA6-14DF0EFA3310}" type="presParOf" srcId="{3E98ECAF-D7A0-426E-B25C-0B3EE4F63643}" destId="{539B3FBC-C2B6-4B05-8113-03CB7EB077A3}" srcOrd="1" destOrd="0" presId="urn:microsoft.com/office/officeart/2018/2/layout/IconLabelList"/>
    <dgm:cxn modelId="{CE68A379-F246-4392-8000-55A48594A5CC}" type="presParOf" srcId="{3E98ECAF-D7A0-426E-B25C-0B3EE4F63643}" destId="{B568D3D9-D799-450E-B200-3DF82F03CB63}" srcOrd="2" destOrd="0" presId="urn:microsoft.com/office/officeart/2018/2/layout/IconLabelList"/>
    <dgm:cxn modelId="{AD42E69A-45CB-4B17-9331-C584ED6189C1}" type="presParOf" srcId="{B568D3D9-D799-450E-B200-3DF82F03CB63}" destId="{5C84EC47-EBC6-4C25-8B7B-13BAD9BD7684}" srcOrd="0" destOrd="0" presId="urn:microsoft.com/office/officeart/2018/2/layout/IconLabelList"/>
    <dgm:cxn modelId="{7E74465E-3D48-4034-A034-CAC97FB9DFEE}" type="presParOf" srcId="{B568D3D9-D799-450E-B200-3DF82F03CB63}" destId="{90A17277-DDAD-49BB-B3B0-3F122F4DABC9}" srcOrd="1" destOrd="0" presId="urn:microsoft.com/office/officeart/2018/2/layout/IconLabelList"/>
    <dgm:cxn modelId="{0B62A314-70BC-475F-9024-C7F5B864822B}" type="presParOf" srcId="{B568D3D9-D799-450E-B200-3DF82F03CB63}" destId="{603A0A71-27E7-4966-B8D6-84D3C16880A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EEAA8F-49F5-4E3B-8F86-413625E3E4B5}" type="doc">
      <dgm:prSet loTypeId="urn:microsoft.com/office/officeart/2008/layout/LinedList" loCatId="list" qsTypeId="urn:microsoft.com/office/officeart/2005/8/quickstyle/simple1" qsCatId="simple" csTypeId="urn:microsoft.com/office/officeart/2005/8/colors/accent5_2" csCatId="accent5" phldr="1"/>
      <dgm:spPr/>
      <dgm:t>
        <a:bodyPr/>
        <a:lstStyle/>
        <a:p>
          <a:endParaRPr lang="en-US"/>
        </a:p>
      </dgm:t>
    </dgm:pt>
    <dgm:pt modelId="{1A21D6AC-F6C7-4D8A-9D7E-8C685DA507BF}">
      <dgm:prSet custT="1"/>
      <dgm:spPr/>
      <dgm:t>
        <a:bodyPr/>
        <a:lstStyle/>
        <a:p>
          <a:r>
            <a:rPr lang="en-US" sz="1100" dirty="0"/>
            <a:t>.</a:t>
          </a:r>
          <a:r>
            <a:rPr lang="en-US" sz="1100" b="1" dirty="0"/>
            <a:t> Key Factors Identified</a:t>
          </a:r>
          <a:r>
            <a:rPr lang="en-US" sz="1100" dirty="0"/>
            <a:t>:</a:t>
          </a:r>
          <a:br>
            <a:rPr lang="en-US" sz="1100" dirty="0"/>
          </a:br>
          <a:r>
            <a:rPr lang="en-US" sz="1100" dirty="0"/>
            <a:t>Key Factors Identified:</a:t>
          </a:r>
        </a:p>
        <a:p>
          <a:r>
            <a:rPr lang="en-US" sz="1100" dirty="0"/>
            <a:t>Loan grade together with loan percent income and credit history proved to be the best indicators for granting a loan approval</a:t>
          </a:r>
          <a:r>
            <a:rPr lang="en-US" sz="500" dirty="0"/>
            <a:t>.</a:t>
          </a:r>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dgm:t>
    </dgm:pt>
    <dgm:pt modelId="{8343227D-9082-4673-9EF9-22E17DC8E0A8}" type="parTrans" cxnId="{5B20CECD-FF3B-44AE-974C-9437AC92AC6A}">
      <dgm:prSet/>
      <dgm:spPr/>
      <dgm:t>
        <a:bodyPr/>
        <a:lstStyle/>
        <a:p>
          <a:endParaRPr lang="en-US"/>
        </a:p>
      </dgm:t>
    </dgm:pt>
    <dgm:pt modelId="{5A908323-28DB-4C55-A8CA-0E5E7BC09B50}" type="sibTrans" cxnId="{5B20CECD-FF3B-44AE-974C-9437AC92AC6A}">
      <dgm:prSet/>
      <dgm:spPr/>
      <dgm:t>
        <a:bodyPr/>
        <a:lstStyle/>
        <a:p>
          <a:endParaRPr lang="en-US"/>
        </a:p>
      </dgm:t>
    </dgm:pt>
    <dgm:pt modelId="{DCF9ABCC-DC1E-484A-AC39-179432F0C231}">
      <dgm:prSet/>
      <dgm:spPr/>
      <dgm:t>
        <a:bodyPr/>
        <a:lstStyle/>
        <a:p>
          <a:r>
            <a:rPr lang="en-US" b="1"/>
            <a:t>Decision Tree Insights</a:t>
          </a:r>
          <a:r>
            <a:rPr lang="en-US"/>
            <a:t>:</a:t>
          </a:r>
          <a:br>
            <a:rPr lang="en-US"/>
          </a:br>
          <a:r>
            <a:rPr lang="en-US"/>
            <a:t>A simple decision rule based on one feature (likely loan grade) was enough to perfectly classify applicants, achieving </a:t>
          </a:r>
          <a:r>
            <a:rPr lang="en-US" b="1"/>
            <a:t>100% accuracy</a:t>
          </a:r>
          <a:r>
            <a:rPr lang="en-US"/>
            <a:t>.</a:t>
          </a:r>
        </a:p>
      </dgm:t>
    </dgm:pt>
    <dgm:pt modelId="{191391BE-BD8A-4CD5-ADBE-D010FDE189DC}" type="parTrans" cxnId="{C1871351-CAD2-4649-A848-5A1EB9D38B57}">
      <dgm:prSet/>
      <dgm:spPr/>
      <dgm:t>
        <a:bodyPr/>
        <a:lstStyle/>
        <a:p>
          <a:endParaRPr lang="en-US"/>
        </a:p>
      </dgm:t>
    </dgm:pt>
    <dgm:pt modelId="{A3130BCB-A43B-4ADF-959F-C0902CF4EA72}" type="sibTrans" cxnId="{C1871351-CAD2-4649-A848-5A1EB9D38B57}">
      <dgm:prSet/>
      <dgm:spPr/>
      <dgm:t>
        <a:bodyPr/>
        <a:lstStyle/>
        <a:p>
          <a:endParaRPr lang="en-US"/>
        </a:p>
      </dgm:t>
    </dgm:pt>
    <dgm:pt modelId="{10BC6C3B-760A-4BFD-9E00-4C5C5BBEABE3}">
      <dgm:prSet/>
      <dgm:spPr/>
      <dgm:t>
        <a:bodyPr/>
        <a:lstStyle/>
        <a:p>
          <a:r>
            <a:rPr lang="en-US" b="1"/>
            <a:t>Logistic Regression Insights</a:t>
          </a:r>
          <a:r>
            <a:rPr lang="en-US"/>
            <a:t>:</a:t>
          </a:r>
          <a:br>
            <a:rPr lang="en-US"/>
          </a:br>
          <a:r>
            <a:rPr lang="en-US"/>
            <a:t>Logistic Regression highlighted the influence (positive or negative) of each feature through coefficients.</a:t>
          </a:r>
          <a:br>
            <a:rPr lang="en-US"/>
          </a:br>
          <a:r>
            <a:rPr lang="en-US"/>
            <a:t>It also achieved </a:t>
          </a:r>
          <a:r>
            <a:rPr lang="en-US" b="1"/>
            <a:t>100% accuracy</a:t>
          </a:r>
          <a:r>
            <a:rPr lang="en-US"/>
            <a:t>, indicating strong feature separability.</a:t>
          </a:r>
        </a:p>
      </dgm:t>
    </dgm:pt>
    <dgm:pt modelId="{43C494E1-F8B0-45AA-A2E1-31DF90A2F179}" type="parTrans" cxnId="{24BE2134-A97B-45B6-8824-A69ABA8CDD48}">
      <dgm:prSet/>
      <dgm:spPr/>
      <dgm:t>
        <a:bodyPr/>
        <a:lstStyle/>
        <a:p>
          <a:endParaRPr lang="en-US"/>
        </a:p>
      </dgm:t>
    </dgm:pt>
    <dgm:pt modelId="{C37CF288-A2F0-49D5-9C1A-559EF38E5D18}" type="sibTrans" cxnId="{24BE2134-A97B-45B6-8824-A69ABA8CDD48}">
      <dgm:prSet/>
      <dgm:spPr/>
      <dgm:t>
        <a:bodyPr/>
        <a:lstStyle/>
        <a:p>
          <a:endParaRPr lang="en-US"/>
        </a:p>
      </dgm:t>
    </dgm:pt>
    <dgm:pt modelId="{16778034-0B6D-4018-8D72-5388BFB8BB82}">
      <dgm:prSet/>
      <dgm:spPr/>
      <dgm:t>
        <a:bodyPr/>
        <a:lstStyle/>
        <a:p>
          <a:r>
            <a:rPr lang="en-US" b="1"/>
            <a:t>Model Interpretability</a:t>
          </a:r>
          <a:r>
            <a:rPr lang="en-US"/>
            <a:t>:</a:t>
          </a:r>
          <a:br>
            <a:rPr lang="en-US"/>
          </a:br>
          <a:r>
            <a:rPr lang="en-US"/>
            <a:t>Decision Tree provided clear if-else rules; Logistic Regression provided detailed feature impact values.</a:t>
          </a:r>
        </a:p>
      </dgm:t>
    </dgm:pt>
    <dgm:pt modelId="{185EDA55-A45D-4013-8268-40C5060CA438}" type="parTrans" cxnId="{A5F68BFD-536D-4EB3-AF5F-1416B457641A}">
      <dgm:prSet/>
      <dgm:spPr/>
      <dgm:t>
        <a:bodyPr/>
        <a:lstStyle/>
        <a:p>
          <a:endParaRPr lang="en-US"/>
        </a:p>
      </dgm:t>
    </dgm:pt>
    <dgm:pt modelId="{A372AB39-87BE-4AE8-9C35-A1236D449521}" type="sibTrans" cxnId="{A5F68BFD-536D-4EB3-AF5F-1416B457641A}">
      <dgm:prSet/>
      <dgm:spPr/>
      <dgm:t>
        <a:bodyPr/>
        <a:lstStyle/>
        <a:p>
          <a:endParaRPr lang="en-US"/>
        </a:p>
      </dgm:t>
    </dgm:pt>
    <dgm:pt modelId="{FE1141CD-D242-4846-A9BF-17041C35F3F0}">
      <dgm:prSet/>
      <dgm:spPr/>
      <dgm:t>
        <a:bodyPr/>
        <a:lstStyle/>
        <a:p>
          <a:r>
            <a:rPr lang="en-US" b="1"/>
            <a:t>Data Characteristics</a:t>
          </a:r>
          <a:r>
            <a:rPr lang="en-US"/>
            <a:t>:</a:t>
          </a:r>
          <a:br>
            <a:rPr lang="en-US"/>
          </a:br>
          <a:r>
            <a:rPr lang="en-US"/>
            <a:t>The dataset was relatively clean and structured, allowing both models to perform exceptionally well without complex tuning.</a:t>
          </a:r>
        </a:p>
      </dgm:t>
    </dgm:pt>
    <dgm:pt modelId="{BCE20AC6-21EC-4D90-A7DC-4A3B6A878232}" type="parTrans" cxnId="{75D38E35-3D15-4949-BD68-2557D707AC4D}">
      <dgm:prSet/>
      <dgm:spPr/>
      <dgm:t>
        <a:bodyPr/>
        <a:lstStyle/>
        <a:p>
          <a:endParaRPr lang="en-US"/>
        </a:p>
      </dgm:t>
    </dgm:pt>
    <dgm:pt modelId="{75F5887E-F108-4FF9-B87B-8294732AA02C}" type="sibTrans" cxnId="{75D38E35-3D15-4949-BD68-2557D707AC4D}">
      <dgm:prSet/>
      <dgm:spPr/>
      <dgm:t>
        <a:bodyPr/>
        <a:lstStyle/>
        <a:p>
          <a:endParaRPr lang="en-US"/>
        </a:p>
      </dgm:t>
    </dgm:pt>
    <dgm:pt modelId="{B0674C05-6798-EF43-B20F-7648D0159E33}" type="pres">
      <dgm:prSet presAssocID="{ABEEAA8F-49F5-4E3B-8F86-413625E3E4B5}" presName="vert0" presStyleCnt="0">
        <dgm:presLayoutVars>
          <dgm:dir/>
          <dgm:animOne val="branch"/>
          <dgm:animLvl val="lvl"/>
        </dgm:presLayoutVars>
      </dgm:prSet>
      <dgm:spPr/>
    </dgm:pt>
    <dgm:pt modelId="{331655BE-9792-164B-933B-B9836C6A1B1B}" type="pres">
      <dgm:prSet presAssocID="{1A21D6AC-F6C7-4D8A-9D7E-8C685DA507BF}" presName="thickLine" presStyleLbl="alignNode1" presStyleIdx="0" presStyleCnt="5"/>
      <dgm:spPr/>
    </dgm:pt>
    <dgm:pt modelId="{50728A62-A1D5-8C4C-AC72-D1F033796057}" type="pres">
      <dgm:prSet presAssocID="{1A21D6AC-F6C7-4D8A-9D7E-8C685DA507BF}" presName="horz1" presStyleCnt="0"/>
      <dgm:spPr/>
    </dgm:pt>
    <dgm:pt modelId="{1EADE97D-74C0-F249-9FE7-0F0DD19F552D}" type="pres">
      <dgm:prSet presAssocID="{1A21D6AC-F6C7-4D8A-9D7E-8C685DA507BF}" presName="tx1" presStyleLbl="revTx" presStyleIdx="0" presStyleCnt="5"/>
      <dgm:spPr/>
    </dgm:pt>
    <dgm:pt modelId="{A3833397-37D0-7340-82E2-11D2402BDCB5}" type="pres">
      <dgm:prSet presAssocID="{1A21D6AC-F6C7-4D8A-9D7E-8C685DA507BF}" presName="vert1" presStyleCnt="0"/>
      <dgm:spPr/>
    </dgm:pt>
    <dgm:pt modelId="{47BD8FD2-42D2-7447-99F7-DBFD9FD8105F}" type="pres">
      <dgm:prSet presAssocID="{DCF9ABCC-DC1E-484A-AC39-179432F0C231}" presName="thickLine" presStyleLbl="alignNode1" presStyleIdx="1" presStyleCnt="5"/>
      <dgm:spPr/>
    </dgm:pt>
    <dgm:pt modelId="{2402E0B9-BDAA-514A-8415-9F3B20CF1E7F}" type="pres">
      <dgm:prSet presAssocID="{DCF9ABCC-DC1E-484A-AC39-179432F0C231}" presName="horz1" presStyleCnt="0"/>
      <dgm:spPr/>
    </dgm:pt>
    <dgm:pt modelId="{6FDF2EF3-083A-3142-80FF-D0C1DA7E18CC}" type="pres">
      <dgm:prSet presAssocID="{DCF9ABCC-DC1E-484A-AC39-179432F0C231}" presName="tx1" presStyleLbl="revTx" presStyleIdx="1" presStyleCnt="5"/>
      <dgm:spPr/>
    </dgm:pt>
    <dgm:pt modelId="{BF25B252-FBC1-074B-8DFB-C2D5ADBBD9B1}" type="pres">
      <dgm:prSet presAssocID="{DCF9ABCC-DC1E-484A-AC39-179432F0C231}" presName="vert1" presStyleCnt="0"/>
      <dgm:spPr/>
    </dgm:pt>
    <dgm:pt modelId="{315DF971-4A61-E64E-B1FE-0753A249D867}" type="pres">
      <dgm:prSet presAssocID="{10BC6C3B-760A-4BFD-9E00-4C5C5BBEABE3}" presName="thickLine" presStyleLbl="alignNode1" presStyleIdx="2" presStyleCnt="5"/>
      <dgm:spPr/>
    </dgm:pt>
    <dgm:pt modelId="{606A63AD-A831-8D4C-B5BC-B4E22660A756}" type="pres">
      <dgm:prSet presAssocID="{10BC6C3B-760A-4BFD-9E00-4C5C5BBEABE3}" presName="horz1" presStyleCnt="0"/>
      <dgm:spPr/>
    </dgm:pt>
    <dgm:pt modelId="{4C340318-BBD6-2746-AC42-2CC6C17C82DD}" type="pres">
      <dgm:prSet presAssocID="{10BC6C3B-760A-4BFD-9E00-4C5C5BBEABE3}" presName="tx1" presStyleLbl="revTx" presStyleIdx="2" presStyleCnt="5"/>
      <dgm:spPr/>
    </dgm:pt>
    <dgm:pt modelId="{3D19F8AD-EA12-6C46-BEC0-742FC7EBEDAF}" type="pres">
      <dgm:prSet presAssocID="{10BC6C3B-760A-4BFD-9E00-4C5C5BBEABE3}" presName="vert1" presStyleCnt="0"/>
      <dgm:spPr/>
    </dgm:pt>
    <dgm:pt modelId="{6508F87E-880A-AD44-AD19-FFAD9B5E214A}" type="pres">
      <dgm:prSet presAssocID="{16778034-0B6D-4018-8D72-5388BFB8BB82}" presName="thickLine" presStyleLbl="alignNode1" presStyleIdx="3" presStyleCnt="5"/>
      <dgm:spPr/>
    </dgm:pt>
    <dgm:pt modelId="{A69D3A27-196E-2941-8843-6242D12A4199}" type="pres">
      <dgm:prSet presAssocID="{16778034-0B6D-4018-8D72-5388BFB8BB82}" presName="horz1" presStyleCnt="0"/>
      <dgm:spPr/>
    </dgm:pt>
    <dgm:pt modelId="{77102D17-FD8C-F646-8AEC-4923659CAEC3}" type="pres">
      <dgm:prSet presAssocID="{16778034-0B6D-4018-8D72-5388BFB8BB82}" presName="tx1" presStyleLbl="revTx" presStyleIdx="3" presStyleCnt="5"/>
      <dgm:spPr/>
    </dgm:pt>
    <dgm:pt modelId="{0196D500-18AC-DC47-8782-7BE1DEDFD2C0}" type="pres">
      <dgm:prSet presAssocID="{16778034-0B6D-4018-8D72-5388BFB8BB82}" presName="vert1" presStyleCnt="0"/>
      <dgm:spPr/>
    </dgm:pt>
    <dgm:pt modelId="{A1380D71-4D7B-1240-9677-D587A71F263F}" type="pres">
      <dgm:prSet presAssocID="{FE1141CD-D242-4846-A9BF-17041C35F3F0}" presName="thickLine" presStyleLbl="alignNode1" presStyleIdx="4" presStyleCnt="5"/>
      <dgm:spPr/>
    </dgm:pt>
    <dgm:pt modelId="{88C15E0E-AA05-064F-86FB-586783AAC1A3}" type="pres">
      <dgm:prSet presAssocID="{FE1141CD-D242-4846-A9BF-17041C35F3F0}" presName="horz1" presStyleCnt="0"/>
      <dgm:spPr/>
    </dgm:pt>
    <dgm:pt modelId="{D9DD4509-1F66-394B-A667-425E9999F118}" type="pres">
      <dgm:prSet presAssocID="{FE1141CD-D242-4846-A9BF-17041C35F3F0}" presName="tx1" presStyleLbl="revTx" presStyleIdx="4" presStyleCnt="5"/>
      <dgm:spPr/>
    </dgm:pt>
    <dgm:pt modelId="{E919F237-7C5E-BE4B-AEE7-366103163FA5}" type="pres">
      <dgm:prSet presAssocID="{FE1141CD-D242-4846-A9BF-17041C35F3F0}" presName="vert1" presStyleCnt="0"/>
      <dgm:spPr/>
    </dgm:pt>
  </dgm:ptLst>
  <dgm:cxnLst>
    <dgm:cxn modelId="{9793AF1B-70B6-E14A-85BF-9600200E4E27}" type="presOf" srcId="{16778034-0B6D-4018-8D72-5388BFB8BB82}" destId="{77102D17-FD8C-F646-8AEC-4923659CAEC3}" srcOrd="0" destOrd="0" presId="urn:microsoft.com/office/officeart/2008/layout/LinedList"/>
    <dgm:cxn modelId="{24BE2134-A97B-45B6-8824-A69ABA8CDD48}" srcId="{ABEEAA8F-49F5-4E3B-8F86-413625E3E4B5}" destId="{10BC6C3B-760A-4BFD-9E00-4C5C5BBEABE3}" srcOrd="2" destOrd="0" parTransId="{43C494E1-F8B0-45AA-A2E1-31DF90A2F179}" sibTransId="{C37CF288-A2F0-49D5-9C1A-559EF38E5D18}"/>
    <dgm:cxn modelId="{75D38E35-3D15-4949-BD68-2557D707AC4D}" srcId="{ABEEAA8F-49F5-4E3B-8F86-413625E3E4B5}" destId="{FE1141CD-D242-4846-A9BF-17041C35F3F0}" srcOrd="4" destOrd="0" parTransId="{BCE20AC6-21EC-4D90-A7DC-4A3B6A878232}" sibTransId="{75F5887E-F108-4FF9-B87B-8294732AA02C}"/>
    <dgm:cxn modelId="{D6169142-D887-1D46-B06F-0026E2E2C0C3}" type="presOf" srcId="{1A21D6AC-F6C7-4D8A-9D7E-8C685DA507BF}" destId="{1EADE97D-74C0-F249-9FE7-0F0DD19F552D}" srcOrd="0" destOrd="0" presId="urn:microsoft.com/office/officeart/2008/layout/LinedList"/>
    <dgm:cxn modelId="{C1871351-CAD2-4649-A848-5A1EB9D38B57}" srcId="{ABEEAA8F-49F5-4E3B-8F86-413625E3E4B5}" destId="{DCF9ABCC-DC1E-484A-AC39-179432F0C231}" srcOrd="1" destOrd="0" parTransId="{191391BE-BD8A-4CD5-ADBE-D010FDE189DC}" sibTransId="{A3130BCB-A43B-4ADF-959F-C0902CF4EA72}"/>
    <dgm:cxn modelId="{510B317C-7353-174B-BC30-7A5FDD9C5956}" type="presOf" srcId="{10BC6C3B-760A-4BFD-9E00-4C5C5BBEABE3}" destId="{4C340318-BBD6-2746-AC42-2CC6C17C82DD}" srcOrd="0" destOrd="0" presId="urn:microsoft.com/office/officeart/2008/layout/LinedList"/>
    <dgm:cxn modelId="{BDCFE9C8-5919-944A-8453-3992CF2D0CD7}" type="presOf" srcId="{DCF9ABCC-DC1E-484A-AC39-179432F0C231}" destId="{6FDF2EF3-083A-3142-80FF-D0C1DA7E18CC}" srcOrd="0" destOrd="0" presId="urn:microsoft.com/office/officeart/2008/layout/LinedList"/>
    <dgm:cxn modelId="{BBE5FDC9-D16F-8F43-B4D5-1E621E681279}" type="presOf" srcId="{FE1141CD-D242-4846-A9BF-17041C35F3F0}" destId="{D9DD4509-1F66-394B-A667-425E9999F118}" srcOrd="0" destOrd="0" presId="urn:microsoft.com/office/officeart/2008/layout/LinedList"/>
    <dgm:cxn modelId="{5B20CECD-FF3B-44AE-974C-9437AC92AC6A}" srcId="{ABEEAA8F-49F5-4E3B-8F86-413625E3E4B5}" destId="{1A21D6AC-F6C7-4D8A-9D7E-8C685DA507BF}" srcOrd="0" destOrd="0" parTransId="{8343227D-9082-4673-9EF9-22E17DC8E0A8}" sibTransId="{5A908323-28DB-4C55-A8CA-0E5E7BC09B50}"/>
    <dgm:cxn modelId="{A33210F3-E2CD-744D-87FE-527E9A51FD94}" type="presOf" srcId="{ABEEAA8F-49F5-4E3B-8F86-413625E3E4B5}" destId="{B0674C05-6798-EF43-B20F-7648D0159E33}" srcOrd="0" destOrd="0" presId="urn:microsoft.com/office/officeart/2008/layout/LinedList"/>
    <dgm:cxn modelId="{A5F68BFD-536D-4EB3-AF5F-1416B457641A}" srcId="{ABEEAA8F-49F5-4E3B-8F86-413625E3E4B5}" destId="{16778034-0B6D-4018-8D72-5388BFB8BB82}" srcOrd="3" destOrd="0" parTransId="{185EDA55-A45D-4013-8268-40C5060CA438}" sibTransId="{A372AB39-87BE-4AE8-9C35-A1236D449521}"/>
    <dgm:cxn modelId="{AA65E7BD-7B85-CF43-B3A7-EFAF0A467393}" type="presParOf" srcId="{B0674C05-6798-EF43-B20F-7648D0159E33}" destId="{331655BE-9792-164B-933B-B9836C6A1B1B}" srcOrd="0" destOrd="0" presId="urn:microsoft.com/office/officeart/2008/layout/LinedList"/>
    <dgm:cxn modelId="{0E68E2C2-7750-6447-9F68-EFC7B2B13021}" type="presParOf" srcId="{B0674C05-6798-EF43-B20F-7648D0159E33}" destId="{50728A62-A1D5-8C4C-AC72-D1F033796057}" srcOrd="1" destOrd="0" presId="urn:microsoft.com/office/officeart/2008/layout/LinedList"/>
    <dgm:cxn modelId="{2AF84F02-CBFD-6B4E-B25B-C0CB967B84D6}" type="presParOf" srcId="{50728A62-A1D5-8C4C-AC72-D1F033796057}" destId="{1EADE97D-74C0-F249-9FE7-0F0DD19F552D}" srcOrd="0" destOrd="0" presId="urn:microsoft.com/office/officeart/2008/layout/LinedList"/>
    <dgm:cxn modelId="{29BF9099-A0F5-3B4F-A0EB-43FB89C858A0}" type="presParOf" srcId="{50728A62-A1D5-8C4C-AC72-D1F033796057}" destId="{A3833397-37D0-7340-82E2-11D2402BDCB5}" srcOrd="1" destOrd="0" presId="urn:microsoft.com/office/officeart/2008/layout/LinedList"/>
    <dgm:cxn modelId="{A7345249-C388-8D4F-9B5B-2784E06DF115}" type="presParOf" srcId="{B0674C05-6798-EF43-B20F-7648D0159E33}" destId="{47BD8FD2-42D2-7447-99F7-DBFD9FD8105F}" srcOrd="2" destOrd="0" presId="urn:microsoft.com/office/officeart/2008/layout/LinedList"/>
    <dgm:cxn modelId="{EE590CAB-E822-5247-BB84-83AB4E62285F}" type="presParOf" srcId="{B0674C05-6798-EF43-B20F-7648D0159E33}" destId="{2402E0B9-BDAA-514A-8415-9F3B20CF1E7F}" srcOrd="3" destOrd="0" presId="urn:microsoft.com/office/officeart/2008/layout/LinedList"/>
    <dgm:cxn modelId="{0F47815E-2739-7C46-A8F9-A6E70EC98091}" type="presParOf" srcId="{2402E0B9-BDAA-514A-8415-9F3B20CF1E7F}" destId="{6FDF2EF3-083A-3142-80FF-D0C1DA7E18CC}" srcOrd="0" destOrd="0" presId="urn:microsoft.com/office/officeart/2008/layout/LinedList"/>
    <dgm:cxn modelId="{E6B4F3A5-3CB9-4045-9A86-AD7F2945877C}" type="presParOf" srcId="{2402E0B9-BDAA-514A-8415-9F3B20CF1E7F}" destId="{BF25B252-FBC1-074B-8DFB-C2D5ADBBD9B1}" srcOrd="1" destOrd="0" presId="urn:microsoft.com/office/officeart/2008/layout/LinedList"/>
    <dgm:cxn modelId="{E609A25C-472F-C84D-9FFD-596F739F7584}" type="presParOf" srcId="{B0674C05-6798-EF43-B20F-7648D0159E33}" destId="{315DF971-4A61-E64E-B1FE-0753A249D867}" srcOrd="4" destOrd="0" presId="urn:microsoft.com/office/officeart/2008/layout/LinedList"/>
    <dgm:cxn modelId="{7D25D86C-957F-034D-B75C-4A752DAEECB8}" type="presParOf" srcId="{B0674C05-6798-EF43-B20F-7648D0159E33}" destId="{606A63AD-A831-8D4C-B5BC-B4E22660A756}" srcOrd="5" destOrd="0" presId="urn:microsoft.com/office/officeart/2008/layout/LinedList"/>
    <dgm:cxn modelId="{9CF7906D-C54A-544B-9AFE-66DEA3BBD121}" type="presParOf" srcId="{606A63AD-A831-8D4C-B5BC-B4E22660A756}" destId="{4C340318-BBD6-2746-AC42-2CC6C17C82DD}" srcOrd="0" destOrd="0" presId="urn:microsoft.com/office/officeart/2008/layout/LinedList"/>
    <dgm:cxn modelId="{04665E45-8F30-274F-9CE6-B6DB5211971D}" type="presParOf" srcId="{606A63AD-A831-8D4C-B5BC-B4E22660A756}" destId="{3D19F8AD-EA12-6C46-BEC0-742FC7EBEDAF}" srcOrd="1" destOrd="0" presId="urn:microsoft.com/office/officeart/2008/layout/LinedList"/>
    <dgm:cxn modelId="{2C8806A4-D672-9744-9F45-8B6E0F841ECE}" type="presParOf" srcId="{B0674C05-6798-EF43-B20F-7648D0159E33}" destId="{6508F87E-880A-AD44-AD19-FFAD9B5E214A}" srcOrd="6" destOrd="0" presId="urn:microsoft.com/office/officeart/2008/layout/LinedList"/>
    <dgm:cxn modelId="{BDCD7164-7E7A-0B48-B515-329F0CFB9CB1}" type="presParOf" srcId="{B0674C05-6798-EF43-B20F-7648D0159E33}" destId="{A69D3A27-196E-2941-8843-6242D12A4199}" srcOrd="7" destOrd="0" presId="urn:microsoft.com/office/officeart/2008/layout/LinedList"/>
    <dgm:cxn modelId="{6AA776B9-3A61-EC49-8C1B-F849E14F3137}" type="presParOf" srcId="{A69D3A27-196E-2941-8843-6242D12A4199}" destId="{77102D17-FD8C-F646-8AEC-4923659CAEC3}" srcOrd="0" destOrd="0" presId="urn:microsoft.com/office/officeart/2008/layout/LinedList"/>
    <dgm:cxn modelId="{4C2E258D-E06F-E849-A980-6E6BB71FD0D0}" type="presParOf" srcId="{A69D3A27-196E-2941-8843-6242D12A4199}" destId="{0196D500-18AC-DC47-8782-7BE1DEDFD2C0}" srcOrd="1" destOrd="0" presId="urn:microsoft.com/office/officeart/2008/layout/LinedList"/>
    <dgm:cxn modelId="{D700D97D-52EE-D94E-90AB-DA64E6A1CD2D}" type="presParOf" srcId="{B0674C05-6798-EF43-B20F-7648D0159E33}" destId="{A1380D71-4D7B-1240-9677-D587A71F263F}" srcOrd="8" destOrd="0" presId="urn:microsoft.com/office/officeart/2008/layout/LinedList"/>
    <dgm:cxn modelId="{68C460F3-6169-904D-A86F-96958D5FE5B1}" type="presParOf" srcId="{B0674C05-6798-EF43-B20F-7648D0159E33}" destId="{88C15E0E-AA05-064F-86FB-586783AAC1A3}" srcOrd="9" destOrd="0" presId="urn:microsoft.com/office/officeart/2008/layout/LinedList"/>
    <dgm:cxn modelId="{F333B086-2A94-A445-AE22-6C1B5FDDCFCF}" type="presParOf" srcId="{88C15E0E-AA05-064F-86FB-586783AAC1A3}" destId="{D9DD4509-1F66-394B-A667-425E9999F118}" srcOrd="0" destOrd="0" presId="urn:microsoft.com/office/officeart/2008/layout/LinedList"/>
    <dgm:cxn modelId="{581F54A6-35F0-8D43-975D-4B038B5D4AD6}" type="presParOf" srcId="{88C15E0E-AA05-064F-86FB-586783AAC1A3}" destId="{E919F237-7C5E-BE4B-AEE7-366103163FA5}"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D048B71-8BB8-4AF0-BCAC-B4CA63D02D4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79A08D5E-6F66-46F1-B7A0-FA43751D064C}">
      <dgm:prSet custT="1"/>
      <dgm:spPr/>
      <dgm:t>
        <a:bodyPr/>
        <a:lstStyle/>
        <a:p>
          <a:r>
            <a:rPr lang="en-US" sz="1000" b="1" dirty="0"/>
            <a:t>Successful Model Development</a:t>
          </a:r>
          <a:r>
            <a:rPr lang="en-US" sz="1000" dirty="0"/>
            <a:t>:</a:t>
          </a:r>
          <a:br>
            <a:rPr lang="en-US" sz="1000" dirty="0"/>
          </a:br>
          <a:r>
            <a:rPr lang="en-US" sz="1000" dirty="0"/>
            <a:t>Successful Model Development:</a:t>
          </a:r>
        </a:p>
        <a:p>
          <a:r>
            <a:rPr lang="en-US" sz="1000" dirty="0"/>
            <a:t>The development of Decision Tree and Logistic Regression models achieved complete accuracy in predicting loan results during test data evaluations</a:t>
          </a:r>
          <a:r>
            <a:rPr lang="en-US" sz="500" dirty="0"/>
            <a:t>.</a:t>
          </a:r>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dgm:t>
    </dgm:pt>
    <dgm:pt modelId="{ADD3DDA3-E230-4044-B27E-D859025984F0}" type="parTrans" cxnId="{8E68F81A-4355-436F-AF2D-70E0D9D82F88}">
      <dgm:prSet/>
      <dgm:spPr/>
      <dgm:t>
        <a:bodyPr/>
        <a:lstStyle/>
        <a:p>
          <a:endParaRPr lang="en-US"/>
        </a:p>
      </dgm:t>
    </dgm:pt>
    <dgm:pt modelId="{5B5D2FBD-980B-48F0-A5CD-08A7BFECE5DB}" type="sibTrans" cxnId="{8E68F81A-4355-436F-AF2D-70E0D9D82F88}">
      <dgm:prSet/>
      <dgm:spPr/>
      <dgm:t>
        <a:bodyPr/>
        <a:lstStyle/>
        <a:p>
          <a:endParaRPr lang="en-US"/>
        </a:p>
      </dgm:t>
    </dgm:pt>
    <dgm:pt modelId="{9292059C-36EB-431D-AA58-8C01109D5729}">
      <dgm:prSet custT="1"/>
      <dgm:spPr/>
      <dgm:t>
        <a:bodyPr/>
        <a:lstStyle/>
        <a:p>
          <a:r>
            <a:rPr lang="en-US" sz="1000" b="1" dirty="0"/>
            <a:t>Key Predictive Factors Identified</a:t>
          </a:r>
          <a:r>
            <a:rPr lang="en-US" sz="1000" dirty="0"/>
            <a:t>:</a:t>
          </a:r>
          <a:br>
            <a:rPr lang="en-US" sz="1000" dirty="0"/>
          </a:br>
          <a:r>
            <a:rPr lang="en-US" sz="1000" dirty="0"/>
            <a:t>The most influential drivers for loans decision making included loan grade as well as income-to-loan ratio and credit history information</a:t>
          </a:r>
          <a:r>
            <a:rPr lang="en-US" sz="500" dirty="0"/>
            <a:t>.</a:t>
          </a:r>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endParaRPr lang="en-US" sz="500" dirty="0"/>
        </a:p>
        <a:p>
          <a:r>
            <a:rPr lang="en-US" sz="500" dirty="0"/>
            <a:t>.</a:t>
          </a:r>
        </a:p>
      </dgm:t>
    </dgm:pt>
    <dgm:pt modelId="{9BABE684-1115-4B6C-85C0-C8D1F6728CB4}" type="parTrans" cxnId="{1FF5A4FA-C057-4C0F-8F06-AA025628AC3A}">
      <dgm:prSet/>
      <dgm:spPr/>
      <dgm:t>
        <a:bodyPr/>
        <a:lstStyle/>
        <a:p>
          <a:endParaRPr lang="en-US"/>
        </a:p>
      </dgm:t>
    </dgm:pt>
    <dgm:pt modelId="{A727B005-9B0D-4C60-BE6D-174E819F4E1E}" type="sibTrans" cxnId="{1FF5A4FA-C057-4C0F-8F06-AA025628AC3A}">
      <dgm:prSet/>
      <dgm:spPr/>
      <dgm:t>
        <a:bodyPr/>
        <a:lstStyle/>
        <a:p>
          <a:endParaRPr lang="en-US"/>
        </a:p>
      </dgm:t>
    </dgm:pt>
    <dgm:pt modelId="{C85AC454-4D58-418C-BAF5-C64A0291CBFF}">
      <dgm:prSet custT="1"/>
      <dgm:spPr/>
      <dgm:t>
        <a:bodyPr/>
        <a:lstStyle/>
        <a:p>
          <a:r>
            <a:rPr lang="en-US" sz="1000" b="1" dirty="0"/>
            <a:t>Model Interpretability:</a:t>
          </a:r>
        </a:p>
        <a:p>
          <a:r>
            <a:rPr lang="en-US" sz="1000" b="0" dirty="0"/>
            <a:t>The decision rules from Decision Tree emerged simple while Logistic Regression showcased its feature importance through coefficient results</a:t>
          </a:r>
          <a:r>
            <a:rPr lang="en-US" sz="500" b="0" dirty="0"/>
            <a:t>.</a:t>
          </a:r>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r>
            <a:rPr lang="en-US" sz="500" dirty="0"/>
            <a:t>s.</a:t>
          </a:r>
        </a:p>
      </dgm:t>
    </dgm:pt>
    <dgm:pt modelId="{B0363173-5AD9-49C5-8BF7-C1BC764F2ED8}" type="parTrans" cxnId="{F2C27EE2-9748-4D3D-B13D-CBE4C9B268BD}">
      <dgm:prSet/>
      <dgm:spPr/>
      <dgm:t>
        <a:bodyPr/>
        <a:lstStyle/>
        <a:p>
          <a:endParaRPr lang="en-US"/>
        </a:p>
      </dgm:t>
    </dgm:pt>
    <dgm:pt modelId="{C13404CD-FD49-487E-BDD2-77CB539CFD2D}" type="sibTrans" cxnId="{F2C27EE2-9748-4D3D-B13D-CBE4C9B268BD}">
      <dgm:prSet/>
      <dgm:spPr/>
      <dgm:t>
        <a:bodyPr/>
        <a:lstStyle/>
        <a:p>
          <a:endParaRPr lang="en-US"/>
        </a:p>
      </dgm:t>
    </dgm:pt>
    <dgm:pt modelId="{5D8DE9C9-8AF4-44E9-8B13-7BF13C952B24}">
      <dgm:prSet custT="1"/>
      <dgm:spPr/>
      <dgm:t>
        <a:bodyPr/>
        <a:lstStyle/>
        <a:p>
          <a:r>
            <a:rPr lang="en-US" sz="1000" b="1" dirty="0"/>
            <a:t>Business Value:</a:t>
          </a:r>
        </a:p>
        <a:p>
          <a:r>
            <a:rPr lang="en-US" sz="1000" b="0" dirty="0"/>
            <a:t>Financial institutions gain improved loan approval processes because the models enhance both speed and accuracy as well as transparency</a:t>
          </a:r>
          <a:r>
            <a:rPr lang="en-US" sz="500" b="0" dirty="0"/>
            <a:t>.</a:t>
          </a:r>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r>
            <a:rPr lang="en-US" sz="500" dirty="0"/>
            <a:t>.</a:t>
          </a:r>
        </a:p>
      </dgm:t>
    </dgm:pt>
    <dgm:pt modelId="{28FAE242-662B-4183-AEC4-92F16176B252}" type="parTrans" cxnId="{BBAAE01D-B000-40BC-817E-16DC5B03B8ED}">
      <dgm:prSet/>
      <dgm:spPr/>
      <dgm:t>
        <a:bodyPr/>
        <a:lstStyle/>
        <a:p>
          <a:endParaRPr lang="en-US"/>
        </a:p>
      </dgm:t>
    </dgm:pt>
    <dgm:pt modelId="{11D5087E-5A11-4B82-82B9-01D73C9913F2}" type="sibTrans" cxnId="{BBAAE01D-B000-40BC-817E-16DC5B03B8ED}">
      <dgm:prSet/>
      <dgm:spPr/>
      <dgm:t>
        <a:bodyPr/>
        <a:lstStyle/>
        <a:p>
          <a:endParaRPr lang="en-US"/>
        </a:p>
      </dgm:t>
    </dgm:pt>
    <dgm:pt modelId="{F0AEEB31-161B-4D46-91E6-5AD35B1CC993}">
      <dgm:prSet custT="1"/>
      <dgm:spPr/>
      <dgm:t>
        <a:bodyPr/>
        <a:lstStyle/>
        <a:p>
          <a:r>
            <a:rPr lang="en-US" sz="1000" b="1" dirty="0"/>
            <a:t>Recommendation for Deployment:</a:t>
          </a:r>
        </a:p>
        <a:p>
          <a:r>
            <a:rPr lang="en-US" sz="1000" b="0" dirty="0"/>
            <a:t>A collective evaluation employing valid recent data alongside actual-time data needs to be performed to avoid overfitting problems and ensure operational longevity</a:t>
          </a:r>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r>
            <a:rPr lang="en-US" sz="500" b="1" dirty="0"/>
            <a:t>.</a:t>
          </a:r>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b="1" dirty="0"/>
        </a:p>
        <a:p>
          <a:endParaRPr lang="en-US" sz="500" dirty="0"/>
        </a:p>
      </dgm:t>
    </dgm:pt>
    <dgm:pt modelId="{60B73D54-49A8-48BD-B1DD-E86EBFDECC4B}" type="parTrans" cxnId="{9BB6D8CB-1FF7-4A66-85EE-687F64A7657E}">
      <dgm:prSet/>
      <dgm:spPr/>
      <dgm:t>
        <a:bodyPr/>
        <a:lstStyle/>
        <a:p>
          <a:endParaRPr lang="en-US"/>
        </a:p>
      </dgm:t>
    </dgm:pt>
    <dgm:pt modelId="{730ED002-0C16-4E0C-8A55-8B8B36C48ED4}" type="sibTrans" cxnId="{9BB6D8CB-1FF7-4A66-85EE-687F64A7657E}">
      <dgm:prSet/>
      <dgm:spPr/>
      <dgm:t>
        <a:bodyPr/>
        <a:lstStyle/>
        <a:p>
          <a:endParaRPr lang="en-US"/>
        </a:p>
      </dgm:t>
    </dgm:pt>
    <dgm:pt modelId="{83069A10-E87C-CC45-A56B-E69530EADCCF}" type="pres">
      <dgm:prSet presAssocID="{4D048B71-8BB8-4AF0-BCAC-B4CA63D02D45}" presName="vert0" presStyleCnt="0">
        <dgm:presLayoutVars>
          <dgm:dir/>
          <dgm:animOne val="branch"/>
          <dgm:animLvl val="lvl"/>
        </dgm:presLayoutVars>
      </dgm:prSet>
      <dgm:spPr/>
    </dgm:pt>
    <dgm:pt modelId="{E239E311-CAEA-524F-9A6C-20FFF1AA876C}" type="pres">
      <dgm:prSet presAssocID="{79A08D5E-6F66-46F1-B7A0-FA43751D064C}" presName="thickLine" presStyleLbl="alignNode1" presStyleIdx="0" presStyleCnt="5"/>
      <dgm:spPr/>
    </dgm:pt>
    <dgm:pt modelId="{2CE86D46-5005-DF44-B5C8-565446596D14}" type="pres">
      <dgm:prSet presAssocID="{79A08D5E-6F66-46F1-B7A0-FA43751D064C}" presName="horz1" presStyleCnt="0"/>
      <dgm:spPr/>
    </dgm:pt>
    <dgm:pt modelId="{A974E12D-2F5A-0B4D-9584-084823615A93}" type="pres">
      <dgm:prSet presAssocID="{79A08D5E-6F66-46F1-B7A0-FA43751D064C}" presName="tx1" presStyleLbl="revTx" presStyleIdx="0" presStyleCnt="5"/>
      <dgm:spPr/>
    </dgm:pt>
    <dgm:pt modelId="{7E6DDB04-3707-E242-B180-2DCAD46DB1D7}" type="pres">
      <dgm:prSet presAssocID="{79A08D5E-6F66-46F1-B7A0-FA43751D064C}" presName="vert1" presStyleCnt="0"/>
      <dgm:spPr/>
    </dgm:pt>
    <dgm:pt modelId="{43C697AB-0DE6-7B47-A4D4-98EAEA461C1C}" type="pres">
      <dgm:prSet presAssocID="{9292059C-36EB-431D-AA58-8C01109D5729}" presName="thickLine" presStyleLbl="alignNode1" presStyleIdx="1" presStyleCnt="5"/>
      <dgm:spPr/>
    </dgm:pt>
    <dgm:pt modelId="{134CF4B1-16A1-5A4A-AD24-7D889F9227BA}" type="pres">
      <dgm:prSet presAssocID="{9292059C-36EB-431D-AA58-8C01109D5729}" presName="horz1" presStyleCnt="0"/>
      <dgm:spPr/>
    </dgm:pt>
    <dgm:pt modelId="{BEE292B4-4005-5440-93FE-A7F2CF68A60E}" type="pres">
      <dgm:prSet presAssocID="{9292059C-36EB-431D-AA58-8C01109D5729}" presName="tx1" presStyleLbl="revTx" presStyleIdx="1" presStyleCnt="5"/>
      <dgm:spPr/>
    </dgm:pt>
    <dgm:pt modelId="{C46D6E9A-6A4F-124B-86D8-AEB7D9F111B7}" type="pres">
      <dgm:prSet presAssocID="{9292059C-36EB-431D-AA58-8C01109D5729}" presName="vert1" presStyleCnt="0"/>
      <dgm:spPr/>
    </dgm:pt>
    <dgm:pt modelId="{13F6A70B-D1E7-3047-8AAF-53DD9BDAB4BD}" type="pres">
      <dgm:prSet presAssocID="{C85AC454-4D58-418C-BAF5-C64A0291CBFF}" presName="thickLine" presStyleLbl="alignNode1" presStyleIdx="2" presStyleCnt="5"/>
      <dgm:spPr/>
    </dgm:pt>
    <dgm:pt modelId="{81B4EE15-33C2-E747-8385-1DD33DF58746}" type="pres">
      <dgm:prSet presAssocID="{C85AC454-4D58-418C-BAF5-C64A0291CBFF}" presName="horz1" presStyleCnt="0"/>
      <dgm:spPr/>
    </dgm:pt>
    <dgm:pt modelId="{70C3CCD8-F0A4-8942-8364-C54E839EBE24}" type="pres">
      <dgm:prSet presAssocID="{C85AC454-4D58-418C-BAF5-C64A0291CBFF}" presName="tx1" presStyleLbl="revTx" presStyleIdx="2" presStyleCnt="5"/>
      <dgm:spPr/>
    </dgm:pt>
    <dgm:pt modelId="{F9EAEA7A-602F-8A45-BD62-DEC4463AFCCD}" type="pres">
      <dgm:prSet presAssocID="{C85AC454-4D58-418C-BAF5-C64A0291CBFF}" presName="vert1" presStyleCnt="0"/>
      <dgm:spPr/>
    </dgm:pt>
    <dgm:pt modelId="{4DBB6712-782F-134B-A64A-DA2E7E9C4EBA}" type="pres">
      <dgm:prSet presAssocID="{5D8DE9C9-8AF4-44E9-8B13-7BF13C952B24}" presName="thickLine" presStyleLbl="alignNode1" presStyleIdx="3" presStyleCnt="5"/>
      <dgm:spPr/>
    </dgm:pt>
    <dgm:pt modelId="{68846AB6-A4E6-6247-BB65-00804A8B85A5}" type="pres">
      <dgm:prSet presAssocID="{5D8DE9C9-8AF4-44E9-8B13-7BF13C952B24}" presName="horz1" presStyleCnt="0"/>
      <dgm:spPr/>
    </dgm:pt>
    <dgm:pt modelId="{711C421E-A8B5-3049-9725-D337D17EE7B0}" type="pres">
      <dgm:prSet presAssocID="{5D8DE9C9-8AF4-44E9-8B13-7BF13C952B24}" presName="tx1" presStyleLbl="revTx" presStyleIdx="3" presStyleCnt="5"/>
      <dgm:spPr/>
    </dgm:pt>
    <dgm:pt modelId="{0F3D792F-E607-944B-9FF0-15440225CA89}" type="pres">
      <dgm:prSet presAssocID="{5D8DE9C9-8AF4-44E9-8B13-7BF13C952B24}" presName="vert1" presStyleCnt="0"/>
      <dgm:spPr/>
    </dgm:pt>
    <dgm:pt modelId="{B9491315-695B-EF40-A0E1-18BF6B11BC9B}" type="pres">
      <dgm:prSet presAssocID="{F0AEEB31-161B-4D46-91E6-5AD35B1CC993}" presName="thickLine" presStyleLbl="alignNode1" presStyleIdx="4" presStyleCnt="5"/>
      <dgm:spPr/>
    </dgm:pt>
    <dgm:pt modelId="{214260FB-12AA-6A4C-8E08-28F0F17D8677}" type="pres">
      <dgm:prSet presAssocID="{F0AEEB31-161B-4D46-91E6-5AD35B1CC993}" presName="horz1" presStyleCnt="0"/>
      <dgm:spPr/>
    </dgm:pt>
    <dgm:pt modelId="{0BDBB025-A0AD-FC43-9A1C-660CB8494869}" type="pres">
      <dgm:prSet presAssocID="{F0AEEB31-161B-4D46-91E6-5AD35B1CC993}" presName="tx1" presStyleLbl="revTx" presStyleIdx="4" presStyleCnt="5"/>
      <dgm:spPr/>
    </dgm:pt>
    <dgm:pt modelId="{45827B16-6A4B-6C49-AC28-B1CCD9D3BBC3}" type="pres">
      <dgm:prSet presAssocID="{F0AEEB31-161B-4D46-91E6-5AD35B1CC993}" presName="vert1" presStyleCnt="0"/>
      <dgm:spPr/>
    </dgm:pt>
  </dgm:ptLst>
  <dgm:cxnLst>
    <dgm:cxn modelId="{6E99290A-F920-FA4E-8867-1ECD353C020B}" type="presOf" srcId="{79A08D5E-6F66-46F1-B7A0-FA43751D064C}" destId="{A974E12D-2F5A-0B4D-9584-084823615A93}" srcOrd="0" destOrd="0" presId="urn:microsoft.com/office/officeart/2008/layout/LinedList"/>
    <dgm:cxn modelId="{8E68F81A-4355-436F-AF2D-70E0D9D82F88}" srcId="{4D048B71-8BB8-4AF0-BCAC-B4CA63D02D45}" destId="{79A08D5E-6F66-46F1-B7A0-FA43751D064C}" srcOrd="0" destOrd="0" parTransId="{ADD3DDA3-E230-4044-B27E-D859025984F0}" sibTransId="{5B5D2FBD-980B-48F0-A5CD-08A7BFECE5DB}"/>
    <dgm:cxn modelId="{BBAAE01D-B000-40BC-817E-16DC5B03B8ED}" srcId="{4D048B71-8BB8-4AF0-BCAC-B4CA63D02D45}" destId="{5D8DE9C9-8AF4-44E9-8B13-7BF13C952B24}" srcOrd="3" destOrd="0" parTransId="{28FAE242-662B-4183-AEC4-92F16176B252}" sibTransId="{11D5087E-5A11-4B82-82B9-01D73C9913F2}"/>
    <dgm:cxn modelId="{C363B64C-30F9-5B4E-BAF6-5CC1F5ED82CA}" type="presOf" srcId="{F0AEEB31-161B-4D46-91E6-5AD35B1CC993}" destId="{0BDBB025-A0AD-FC43-9A1C-660CB8494869}" srcOrd="0" destOrd="0" presId="urn:microsoft.com/office/officeart/2008/layout/LinedList"/>
    <dgm:cxn modelId="{4546ED92-C0B4-C24B-A2B6-1D5A394B5F0D}" type="presOf" srcId="{9292059C-36EB-431D-AA58-8C01109D5729}" destId="{BEE292B4-4005-5440-93FE-A7F2CF68A60E}" srcOrd="0" destOrd="0" presId="urn:microsoft.com/office/officeart/2008/layout/LinedList"/>
    <dgm:cxn modelId="{3776E4C8-390F-CD44-8E74-275C8036D62B}" type="presOf" srcId="{4D048B71-8BB8-4AF0-BCAC-B4CA63D02D45}" destId="{83069A10-E87C-CC45-A56B-E69530EADCCF}" srcOrd="0" destOrd="0" presId="urn:microsoft.com/office/officeart/2008/layout/LinedList"/>
    <dgm:cxn modelId="{9BB6D8CB-1FF7-4A66-85EE-687F64A7657E}" srcId="{4D048B71-8BB8-4AF0-BCAC-B4CA63D02D45}" destId="{F0AEEB31-161B-4D46-91E6-5AD35B1CC993}" srcOrd="4" destOrd="0" parTransId="{60B73D54-49A8-48BD-B1DD-E86EBFDECC4B}" sibTransId="{730ED002-0C16-4E0C-8A55-8B8B36C48ED4}"/>
    <dgm:cxn modelId="{F2C27EE2-9748-4D3D-B13D-CBE4C9B268BD}" srcId="{4D048B71-8BB8-4AF0-BCAC-B4CA63D02D45}" destId="{C85AC454-4D58-418C-BAF5-C64A0291CBFF}" srcOrd="2" destOrd="0" parTransId="{B0363173-5AD9-49C5-8BF7-C1BC764F2ED8}" sibTransId="{C13404CD-FD49-487E-BDD2-77CB539CFD2D}"/>
    <dgm:cxn modelId="{3CBF43FA-0AE1-584C-8B25-E362FC9B0DD0}" type="presOf" srcId="{C85AC454-4D58-418C-BAF5-C64A0291CBFF}" destId="{70C3CCD8-F0A4-8942-8364-C54E839EBE24}" srcOrd="0" destOrd="0" presId="urn:microsoft.com/office/officeart/2008/layout/LinedList"/>
    <dgm:cxn modelId="{1FF5A4FA-C057-4C0F-8F06-AA025628AC3A}" srcId="{4D048B71-8BB8-4AF0-BCAC-B4CA63D02D45}" destId="{9292059C-36EB-431D-AA58-8C01109D5729}" srcOrd="1" destOrd="0" parTransId="{9BABE684-1115-4B6C-85C0-C8D1F6728CB4}" sibTransId="{A727B005-9B0D-4C60-BE6D-174E819F4E1E}"/>
    <dgm:cxn modelId="{C6BC13FC-5992-CC4C-BACC-FF62EF1AC400}" type="presOf" srcId="{5D8DE9C9-8AF4-44E9-8B13-7BF13C952B24}" destId="{711C421E-A8B5-3049-9725-D337D17EE7B0}" srcOrd="0" destOrd="0" presId="urn:microsoft.com/office/officeart/2008/layout/LinedList"/>
    <dgm:cxn modelId="{FD5C474A-0CBB-3A4F-9384-7BBD20B7BFA1}" type="presParOf" srcId="{83069A10-E87C-CC45-A56B-E69530EADCCF}" destId="{E239E311-CAEA-524F-9A6C-20FFF1AA876C}" srcOrd="0" destOrd="0" presId="urn:microsoft.com/office/officeart/2008/layout/LinedList"/>
    <dgm:cxn modelId="{A8B1A832-8AFF-504C-B004-E1A11EA9B94C}" type="presParOf" srcId="{83069A10-E87C-CC45-A56B-E69530EADCCF}" destId="{2CE86D46-5005-DF44-B5C8-565446596D14}" srcOrd="1" destOrd="0" presId="urn:microsoft.com/office/officeart/2008/layout/LinedList"/>
    <dgm:cxn modelId="{516AF165-E629-594C-A47C-8B3E40C862FE}" type="presParOf" srcId="{2CE86D46-5005-DF44-B5C8-565446596D14}" destId="{A974E12D-2F5A-0B4D-9584-084823615A93}" srcOrd="0" destOrd="0" presId="urn:microsoft.com/office/officeart/2008/layout/LinedList"/>
    <dgm:cxn modelId="{7B3BAB96-9E69-1348-8671-2251189577DE}" type="presParOf" srcId="{2CE86D46-5005-DF44-B5C8-565446596D14}" destId="{7E6DDB04-3707-E242-B180-2DCAD46DB1D7}" srcOrd="1" destOrd="0" presId="urn:microsoft.com/office/officeart/2008/layout/LinedList"/>
    <dgm:cxn modelId="{74DB3C2B-4931-FE42-8A24-6A08D6333E82}" type="presParOf" srcId="{83069A10-E87C-CC45-A56B-E69530EADCCF}" destId="{43C697AB-0DE6-7B47-A4D4-98EAEA461C1C}" srcOrd="2" destOrd="0" presId="urn:microsoft.com/office/officeart/2008/layout/LinedList"/>
    <dgm:cxn modelId="{F318712E-1D84-B14D-84EE-D15E86BF6911}" type="presParOf" srcId="{83069A10-E87C-CC45-A56B-E69530EADCCF}" destId="{134CF4B1-16A1-5A4A-AD24-7D889F9227BA}" srcOrd="3" destOrd="0" presId="urn:microsoft.com/office/officeart/2008/layout/LinedList"/>
    <dgm:cxn modelId="{16245DEC-B7E4-4A4F-B2CD-1D2353E96790}" type="presParOf" srcId="{134CF4B1-16A1-5A4A-AD24-7D889F9227BA}" destId="{BEE292B4-4005-5440-93FE-A7F2CF68A60E}" srcOrd="0" destOrd="0" presId="urn:microsoft.com/office/officeart/2008/layout/LinedList"/>
    <dgm:cxn modelId="{95823C72-AB29-0442-81EC-AF5015774AC6}" type="presParOf" srcId="{134CF4B1-16A1-5A4A-AD24-7D889F9227BA}" destId="{C46D6E9A-6A4F-124B-86D8-AEB7D9F111B7}" srcOrd="1" destOrd="0" presId="urn:microsoft.com/office/officeart/2008/layout/LinedList"/>
    <dgm:cxn modelId="{874D5760-8A87-3840-849A-5FCBA21DB768}" type="presParOf" srcId="{83069A10-E87C-CC45-A56B-E69530EADCCF}" destId="{13F6A70B-D1E7-3047-8AAF-53DD9BDAB4BD}" srcOrd="4" destOrd="0" presId="urn:microsoft.com/office/officeart/2008/layout/LinedList"/>
    <dgm:cxn modelId="{D37F1B17-448E-3141-9D0D-93C88FD21F4D}" type="presParOf" srcId="{83069A10-E87C-CC45-A56B-E69530EADCCF}" destId="{81B4EE15-33C2-E747-8385-1DD33DF58746}" srcOrd="5" destOrd="0" presId="urn:microsoft.com/office/officeart/2008/layout/LinedList"/>
    <dgm:cxn modelId="{FA8DDA0E-5236-B042-9647-818490B9AD5D}" type="presParOf" srcId="{81B4EE15-33C2-E747-8385-1DD33DF58746}" destId="{70C3CCD8-F0A4-8942-8364-C54E839EBE24}" srcOrd="0" destOrd="0" presId="urn:microsoft.com/office/officeart/2008/layout/LinedList"/>
    <dgm:cxn modelId="{FD745FAB-7309-744B-807D-A6590F2C8A5F}" type="presParOf" srcId="{81B4EE15-33C2-E747-8385-1DD33DF58746}" destId="{F9EAEA7A-602F-8A45-BD62-DEC4463AFCCD}" srcOrd="1" destOrd="0" presId="urn:microsoft.com/office/officeart/2008/layout/LinedList"/>
    <dgm:cxn modelId="{7CA39736-DFD3-9445-BD4F-E27F3C1ED624}" type="presParOf" srcId="{83069A10-E87C-CC45-A56B-E69530EADCCF}" destId="{4DBB6712-782F-134B-A64A-DA2E7E9C4EBA}" srcOrd="6" destOrd="0" presId="urn:microsoft.com/office/officeart/2008/layout/LinedList"/>
    <dgm:cxn modelId="{C8F709F2-4FB4-4243-AA2F-3015CF8AA59B}" type="presParOf" srcId="{83069A10-E87C-CC45-A56B-E69530EADCCF}" destId="{68846AB6-A4E6-6247-BB65-00804A8B85A5}" srcOrd="7" destOrd="0" presId="urn:microsoft.com/office/officeart/2008/layout/LinedList"/>
    <dgm:cxn modelId="{1B22125F-7B79-7044-9C64-A010909AF381}" type="presParOf" srcId="{68846AB6-A4E6-6247-BB65-00804A8B85A5}" destId="{711C421E-A8B5-3049-9725-D337D17EE7B0}" srcOrd="0" destOrd="0" presId="urn:microsoft.com/office/officeart/2008/layout/LinedList"/>
    <dgm:cxn modelId="{605728E3-1645-B141-B794-D44E4E1F7733}" type="presParOf" srcId="{68846AB6-A4E6-6247-BB65-00804A8B85A5}" destId="{0F3D792F-E607-944B-9FF0-15440225CA89}" srcOrd="1" destOrd="0" presId="urn:microsoft.com/office/officeart/2008/layout/LinedList"/>
    <dgm:cxn modelId="{C7AA8675-DFDB-CB45-ACF0-87C7AE2536B8}" type="presParOf" srcId="{83069A10-E87C-CC45-A56B-E69530EADCCF}" destId="{B9491315-695B-EF40-A0E1-18BF6B11BC9B}" srcOrd="8" destOrd="0" presId="urn:microsoft.com/office/officeart/2008/layout/LinedList"/>
    <dgm:cxn modelId="{FF7C2622-41BB-9941-84F7-96A53D76E9E2}" type="presParOf" srcId="{83069A10-E87C-CC45-A56B-E69530EADCCF}" destId="{214260FB-12AA-6A4C-8E08-28F0F17D8677}" srcOrd="9" destOrd="0" presId="urn:microsoft.com/office/officeart/2008/layout/LinedList"/>
    <dgm:cxn modelId="{B9BA35AE-2E3F-2449-9746-7825003626CF}" type="presParOf" srcId="{214260FB-12AA-6A4C-8E08-28F0F17D8677}" destId="{0BDBB025-A0AD-FC43-9A1C-660CB8494869}" srcOrd="0" destOrd="0" presId="urn:microsoft.com/office/officeart/2008/layout/LinedList"/>
    <dgm:cxn modelId="{D1AF23E4-711B-E246-A60C-50A5032BBFBB}" type="presParOf" srcId="{214260FB-12AA-6A4C-8E08-28F0F17D8677}" destId="{45827B16-6A4B-6C49-AC28-B1CCD9D3BBC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6CD42-8618-4A2F-B6FE-17BFDE220321}">
      <dsp:nvSpPr>
        <dsp:cNvPr id="0" name=""/>
        <dsp:cNvSpPr/>
      </dsp:nvSpPr>
      <dsp:spPr>
        <a:xfrm>
          <a:off x="0" y="3529"/>
          <a:ext cx="3328527" cy="7964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2D8768-3C2F-4035-A4CF-65B66D200558}">
      <dsp:nvSpPr>
        <dsp:cNvPr id="0" name=""/>
        <dsp:cNvSpPr/>
      </dsp:nvSpPr>
      <dsp:spPr>
        <a:xfrm>
          <a:off x="240936" y="182738"/>
          <a:ext cx="438494" cy="43806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46BE170-712A-42F1-975D-3222E3846C36}">
      <dsp:nvSpPr>
        <dsp:cNvPr id="0" name=""/>
        <dsp:cNvSpPr/>
      </dsp:nvSpPr>
      <dsp:spPr>
        <a:xfrm>
          <a:off x="920367" y="3529"/>
          <a:ext cx="2393985" cy="821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929" tIns="86929" rIns="86929" bIns="86929" numCol="1" spcCol="1270" anchor="ctr" anchorCtr="0">
          <a:noAutofit/>
        </a:bodyPr>
        <a:lstStyle/>
        <a:p>
          <a:pPr marL="0" lvl="0" indent="0" algn="l" defTabSz="622300">
            <a:lnSpc>
              <a:spcPct val="100000"/>
            </a:lnSpc>
            <a:spcBef>
              <a:spcPct val="0"/>
            </a:spcBef>
            <a:spcAft>
              <a:spcPct val="35000"/>
            </a:spcAft>
            <a:buNone/>
          </a:pPr>
          <a:r>
            <a:rPr lang="en-US" sz="1400" b="0" i="0" kern="1200" dirty="0"/>
            <a:t>Predicted loan approvals using Decision Tree and Logistic Regression.</a:t>
          </a:r>
          <a:endParaRPr lang="en-US" sz="1400" kern="1200" dirty="0"/>
        </a:p>
      </dsp:txBody>
      <dsp:txXfrm>
        <a:off x="920367" y="3529"/>
        <a:ext cx="2393985" cy="821374"/>
      </dsp:txXfrm>
    </dsp:sp>
    <dsp:sp modelId="{3AABB286-B8C3-4BBE-95A2-9A3C32DEA375}">
      <dsp:nvSpPr>
        <dsp:cNvPr id="0" name=""/>
        <dsp:cNvSpPr/>
      </dsp:nvSpPr>
      <dsp:spPr>
        <a:xfrm>
          <a:off x="0" y="1030246"/>
          <a:ext cx="3328527" cy="7964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26917C-A137-4093-AA51-7010E30ED36B}">
      <dsp:nvSpPr>
        <dsp:cNvPr id="0" name=""/>
        <dsp:cNvSpPr/>
      </dsp:nvSpPr>
      <dsp:spPr>
        <a:xfrm>
          <a:off x="240936" y="1209455"/>
          <a:ext cx="438494" cy="43806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94720B-1B9B-4F90-9C6D-D3370813A32B}">
      <dsp:nvSpPr>
        <dsp:cNvPr id="0" name=""/>
        <dsp:cNvSpPr/>
      </dsp:nvSpPr>
      <dsp:spPr>
        <a:xfrm>
          <a:off x="920367" y="1030246"/>
          <a:ext cx="2393985" cy="821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929" tIns="86929" rIns="86929" bIns="86929" numCol="1" spcCol="1270" anchor="ctr" anchorCtr="0">
          <a:noAutofit/>
        </a:bodyPr>
        <a:lstStyle/>
        <a:p>
          <a:pPr marL="0" lvl="0" indent="0" algn="l" defTabSz="622300">
            <a:lnSpc>
              <a:spcPct val="100000"/>
            </a:lnSpc>
            <a:spcBef>
              <a:spcPct val="0"/>
            </a:spcBef>
            <a:spcAft>
              <a:spcPct val="35000"/>
            </a:spcAft>
            <a:buNone/>
          </a:pPr>
          <a:r>
            <a:rPr lang="en-US" sz="1400" kern="1200"/>
            <a:t>Top predictors: Loan Grade, Income, Employment Length.</a:t>
          </a:r>
        </a:p>
      </dsp:txBody>
      <dsp:txXfrm>
        <a:off x="920367" y="1030246"/>
        <a:ext cx="2393985" cy="821374"/>
      </dsp:txXfrm>
    </dsp:sp>
    <dsp:sp modelId="{722F2DCD-8410-443B-A57E-215869E0E624}">
      <dsp:nvSpPr>
        <dsp:cNvPr id="0" name=""/>
        <dsp:cNvSpPr/>
      </dsp:nvSpPr>
      <dsp:spPr>
        <a:xfrm>
          <a:off x="0" y="2056964"/>
          <a:ext cx="3328527" cy="7964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8EFA65-4EDA-4BBA-AC47-899DB76F484E}">
      <dsp:nvSpPr>
        <dsp:cNvPr id="0" name=""/>
        <dsp:cNvSpPr/>
      </dsp:nvSpPr>
      <dsp:spPr>
        <a:xfrm>
          <a:off x="240936" y="2236173"/>
          <a:ext cx="438494" cy="43806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82E1B5C-E180-4A18-9333-DA9FF4F2CE70}">
      <dsp:nvSpPr>
        <dsp:cNvPr id="0" name=""/>
        <dsp:cNvSpPr/>
      </dsp:nvSpPr>
      <dsp:spPr>
        <a:xfrm>
          <a:off x="920367" y="2056964"/>
          <a:ext cx="2393985" cy="821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929" tIns="86929" rIns="86929" bIns="86929" numCol="1" spcCol="1270" anchor="ctr" anchorCtr="0">
          <a:noAutofit/>
        </a:bodyPr>
        <a:lstStyle/>
        <a:p>
          <a:pPr marL="0" lvl="0" indent="0" algn="l" defTabSz="622300">
            <a:lnSpc>
              <a:spcPct val="100000"/>
            </a:lnSpc>
            <a:spcBef>
              <a:spcPct val="0"/>
            </a:spcBef>
            <a:spcAft>
              <a:spcPct val="35000"/>
            </a:spcAft>
            <a:buNone/>
          </a:pPr>
          <a:r>
            <a:rPr lang="en-US" sz="1400" kern="1200" dirty="0"/>
            <a:t>Decision Tree achieved 100% accuracy.</a:t>
          </a:r>
        </a:p>
      </dsp:txBody>
      <dsp:txXfrm>
        <a:off x="920367" y="2056964"/>
        <a:ext cx="2393985" cy="821374"/>
      </dsp:txXfrm>
    </dsp:sp>
    <dsp:sp modelId="{3610FD27-526C-452B-9B5E-323B73FC9957}">
      <dsp:nvSpPr>
        <dsp:cNvPr id="0" name=""/>
        <dsp:cNvSpPr/>
      </dsp:nvSpPr>
      <dsp:spPr>
        <a:xfrm>
          <a:off x="0" y="3083681"/>
          <a:ext cx="3328527" cy="79648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5FFDF4-98E2-4138-B4E6-6FCB133CBFBA}">
      <dsp:nvSpPr>
        <dsp:cNvPr id="0" name=""/>
        <dsp:cNvSpPr/>
      </dsp:nvSpPr>
      <dsp:spPr>
        <a:xfrm>
          <a:off x="240936" y="3262890"/>
          <a:ext cx="438494" cy="43806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F401F8-809E-43CB-A515-E0F2D1E3549C}">
      <dsp:nvSpPr>
        <dsp:cNvPr id="0" name=""/>
        <dsp:cNvSpPr/>
      </dsp:nvSpPr>
      <dsp:spPr>
        <a:xfrm>
          <a:off x="920367" y="3083681"/>
          <a:ext cx="2393985" cy="8213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6929" tIns="86929" rIns="86929" bIns="86929" numCol="1" spcCol="1270" anchor="ctr" anchorCtr="0">
          <a:noAutofit/>
        </a:bodyPr>
        <a:lstStyle/>
        <a:p>
          <a:pPr marL="0" lvl="0" indent="0" algn="l" defTabSz="622300">
            <a:lnSpc>
              <a:spcPct val="100000"/>
            </a:lnSpc>
            <a:spcBef>
              <a:spcPct val="0"/>
            </a:spcBef>
            <a:spcAft>
              <a:spcPct val="35000"/>
            </a:spcAft>
            <a:buNone/>
          </a:pPr>
          <a:r>
            <a:rPr lang="en-US" sz="1400" kern="1200"/>
            <a:t>Logistic Regression achieved 83% accuracy .</a:t>
          </a:r>
        </a:p>
      </dsp:txBody>
      <dsp:txXfrm>
        <a:off x="920367" y="3083681"/>
        <a:ext cx="2393985" cy="8213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66E5DB-BEAD-4774-8D7E-BC0AF6195166}">
      <dsp:nvSpPr>
        <dsp:cNvPr id="0" name=""/>
        <dsp:cNvSpPr/>
      </dsp:nvSpPr>
      <dsp:spPr>
        <a:xfrm>
          <a:off x="518511" y="937"/>
          <a:ext cx="742763" cy="7427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3BD30A-7580-42F1-9195-3A93D252CE4A}">
      <dsp:nvSpPr>
        <dsp:cNvPr id="0" name=""/>
        <dsp:cNvSpPr/>
      </dsp:nvSpPr>
      <dsp:spPr>
        <a:xfrm>
          <a:off x="64600" y="837016"/>
          <a:ext cx="1650585" cy="30798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0" i="0" kern="1200" dirty="0"/>
            <a:t>The modeling process started after the dataset underwent structural improvements along with cleaning procedures. The dataset completeness benefited from filling missing values to achieve data completeness. For machine learning models the categorical inputs received numerical values for encoding. </a:t>
          </a:r>
          <a:endParaRPr lang="en-US" sz="1200" kern="1200" dirty="0"/>
        </a:p>
      </dsp:txBody>
      <dsp:txXfrm>
        <a:off x="64600" y="837016"/>
        <a:ext cx="1650585" cy="3079819"/>
      </dsp:txXfrm>
    </dsp:sp>
    <dsp:sp modelId="{5C84EC47-EBC6-4C25-8B7B-13BAD9BD7684}">
      <dsp:nvSpPr>
        <dsp:cNvPr id="0" name=""/>
        <dsp:cNvSpPr/>
      </dsp:nvSpPr>
      <dsp:spPr>
        <a:xfrm>
          <a:off x="2457949" y="169432"/>
          <a:ext cx="742763" cy="7427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03A0A71-27E7-4966-B8D6-84D3C16880A6}">
      <dsp:nvSpPr>
        <dsp:cNvPr id="0" name=""/>
        <dsp:cNvSpPr/>
      </dsp:nvSpPr>
      <dsp:spPr>
        <a:xfrm>
          <a:off x="1932716" y="903144"/>
          <a:ext cx="1650585" cy="2405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0" i="0" kern="1200" dirty="0"/>
            <a:t>The analysis included combining all necessary variables into a unified numerical vector. The dataset underwent a split into training and testing subsets for proper performance evaluation of the models.</a:t>
          </a:r>
          <a:endParaRPr lang="en-US" sz="1200" kern="1200" dirty="0"/>
        </a:p>
      </dsp:txBody>
      <dsp:txXfrm>
        <a:off x="1932716" y="903144"/>
        <a:ext cx="1650585" cy="240583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1655BE-9792-164B-933B-B9836C6A1B1B}">
      <dsp:nvSpPr>
        <dsp:cNvPr id="0" name=""/>
        <dsp:cNvSpPr/>
      </dsp:nvSpPr>
      <dsp:spPr>
        <a:xfrm>
          <a:off x="0" y="511"/>
          <a:ext cx="4094129"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ADE97D-74C0-F249-9FE7-0F0DD19F552D}">
      <dsp:nvSpPr>
        <dsp:cNvPr id="0" name=""/>
        <dsp:cNvSpPr/>
      </dsp:nvSpPr>
      <dsp:spPr>
        <a:xfrm>
          <a:off x="0" y="511"/>
          <a:ext cx="4094129" cy="838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dirty="0"/>
            <a:t>.</a:t>
          </a:r>
          <a:r>
            <a:rPr lang="en-US" sz="1100" b="1" kern="1200" dirty="0"/>
            <a:t> Key Factors Identified</a:t>
          </a:r>
          <a:r>
            <a:rPr lang="en-US" sz="1100" kern="1200" dirty="0"/>
            <a:t>:</a:t>
          </a:r>
          <a:br>
            <a:rPr lang="en-US" sz="1100" kern="1200" dirty="0"/>
          </a:br>
          <a:r>
            <a:rPr lang="en-US" sz="1100" kern="1200" dirty="0"/>
            <a:t>Key Factors Identified:</a:t>
          </a:r>
        </a:p>
        <a:p>
          <a:pPr marL="0" lvl="0" indent="0" algn="l" defTabSz="488950">
            <a:lnSpc>
              <a:spcPct val="90000"/>
            </a:lnSpc>
            <a:spcBef>
              <a:spcPct val="0"/>
            </a:spcBef>
            <a:spcAft>
              <a:spcPct val="35000"/>
            </a:spcAft>
            <a:buNone/>
          </a:pPr>
          <a:r>
            <a:rPr lang="en-US" sz="1100" kern="1200" dirty="0"/>
            <a:t>Loan grade together with loan percent income and credit history proved to be the best indicators for granting a loan approval</a:t>
          </a:r>
          <a:r>
            <a:rPr lang="en-US" sz="500" kern="1200" dirty="0"/>
            <a:t>.</a:t>
          </a:r>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a:p>
          <a:pPr marL="0" lvl="0" indent="0" algn="l" defTabSz="488950">
            <a:lnSpc>
              <a:spcPct val="90000"/>
            </a:lnSpc>
            <a:spcBef>
              <a:spcPct val="0"/>
            </a:spcBef>
            <a:spcAft>
              <a:spcPct val="35000"/>
            </a:spcAft>
            <a:buNone/>
          </a:pPr>
          <a:endParaRPr lang="en-US" sz="500" kern="1200" dirty="0"/>
        </a:p>
      </dsp:txBody>
      <dsp:txXfrm>
        <a:off x="0" y="511"/>
        <a:ext cx="4094129" cy="838299"/>
      </dsp:txXfrm>
    </dsp:sp>
    <dsp:sp modelId="{47BD8FD2-42D2-7447-99F7-DBFD9FD8105F}">
      <dsp:nvSpPr>
        <dsp:cNvPr id="0" name=""/>
        <dsp:cNvSpPr/>
      </dsp:nvSpPr>
      <dsp:spPr>
        <a:xfrm>
          <a:off x="0" y="838811"/>
          <a:ext cx="4094129"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DF2EF3-083A-3142-80FF-D0C1DA7E18CC}">
      <dsp:nvSpPr>
        <dsp:cNvPr id="0" name=""/>
        <dsp:cNvSpPr/>
      </dsp:nvSpPr>
      <dsp:spPr>
        <a:xfrm>
          <a:off x="0" y="838811"/>
          <a:ext cx="4094129" cy="838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Decision Tree Insights</a:t>
          </a:r>
          <a:r>
            <a:rPr lang="en-US" sz="1100" kern="1200"/>
            <a:t>:</a:t>
          </a:r>
          <a:br>
            <a:rPr lang="en-US" sz="1100" kern="1200"/>
          </a:br>
          <a:r>
            <a:rPr lang="en-US" sz="1100" kern="1200"/>
            <a:t>A simple decision rule based on one feature (likely loan grade) was enough to perfectly classify applicants, achieving </a:t>
          </a:r>
          <a:r>
            <a:rPr lang="en-US" sz="1100" b="1" kern="1200"/>
            <a:t>100% accuracy</a:t>
          </a:r>
          <a:r>
            <a:rPr lang="en-US" sz="1100" kern="1200"/>
            <a:t>.</a:t>
          </a:r>
        </a:p>
      </dsp:txBody>
      <dsp:txXfrm>
        <a:off x="0" y="838811"/>
        <a:ext cx="4094129" cy="838299"/>
      </dsp:txXfrm>
    </dsp:sp>
    <dsp:sp modelId="{315DF971-4A61-E64E-B1FE-0753A249D867}">
      <dsp:nvSpPr>
        <dsp:cNvPr id="0" name=""/>
        <dsp:cNvSpPr/>
      </dsp:nvSpPr>
      <dsp:spPr>
        <a:xfrm>
          <a:off x="0" y="1677110"/>
          <a:ext cx="4094129"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340318-BBD6-2746-AC42-2CC6C17C82DD}">
      <dsp:nvSpPr>
        <dsp:cNvPr id="0" name=""/>
        <dsp:cNvSpPr/>
      </dsp:nvSpPr>
      <dsp:spPr>
        <a:xfrm>
          <a:off x="0" y="1677110"/>
          <a:ext cx="4094129" cy="838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Logistic Regression Insights</a:t>
          </a:r>
          <a:r>
            <a:rPr lang="en-US" sz="1100" kern="1200"/>
            <a:t>:</a:t>
          </a:r>
          <a:br>
            <a:rPr lang="en-US" sz="1100" kern="1200"/>
          </a:br>
          <a:r>
            <a:rPr lang="en-US" sz="1100" kern="1200"/>
            <a:t>Logistic Regression highlighted the influence (positive or negative) of each feature through coefficients.</a:t>
          </a:r>
          <a:br>
            <a:rPr lang="en-US" sz="1100" kern="1200"/>
          </a:br>
          <a:r>
            <a:rPr lang="en-US" sz="1100" kern="1200"/>
            <a:t>It also achieved </a:t>
          </a:r>
          <a:r>
            <a:rPr lang="en-US" sz="1100" b="1" kern="1200"/>
            <a:t>100% accuracy</a:t>
          </a:r>
          <a:r>
            <a:rPr lang="en-US" sz="1100" kern="1200"/>
            <a:t>, indicating strong feature separability.</a:t>
          </a:r>
        </a:p>
      </dsp:txBody>
      <dsp:txXfrm>
        <a:off x="0" y="1677110"/>
        <a:ext cx="4094129" cy="838299"/>
      </dsp:txXfrm>
    </dsp:sp>
    <dsp:sp modelId="{6508F87E-880A-AD44-AD19-FFAD9B5E214A}">
      <dsp:nvSpPr>
        <dsp:cNvPr id="0" name=""/>
        <dsp:cNvSpPr/>
      </dsp:nvSpPr>
      <dsp:spPr>
        <a:xfrm>
          <a:off x="0" y="2515409"/>
          <a:ext cx="4094129"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102D17-FD8C-F646-8AEC-4923659CAEC3}">
      <dsp:nvSpPr>
        <dsp:cNvPr id="0" name=""/>
        <dsp:cNvSpPr/>
      </dsp:nvSpPr>
      <dsp:spPr>
        <a:xfrm>
          <a:off x="0" y="2515409"/>
          <a:ext cx="4094129" cy="838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Model Interpretability</a:t>
          </a:r>
          <a:r>
            <a:rPr lang="en-US" sz="1100" kern="1200"/>
            <a:t>:</a:t>
          </a:r>
          <a:br>
            <a:rPr lang="en-US" sz="1100" kern="1200"/>
          </a:br>
          <a:r>
            <a:rPr lang="en-US" sz="1100" kern="1200"/>
            <a:t>Decision Tree provided clear if-else rules; Logistic Regression provided detailed feature impact values.</a:t>
          </a:r>
        </a:p>
      </dsp:txBody>
      <dsp:txXfrm>
        <a:off x="0" y="2515409"/>
        <a:ext cx="4094129" cy="838299"/>
      </dsp:txXfrm>
    </dsp:sp>
    <dsp:sp modelId="{A1380D71-4D7B-1240-9677-D587A71F263F}">
      <dsp:nvSpPr>
        <dsp:cNvPr id="0" name=""/>
        <dsp:cNvSpPr/>
      </dsp:nvSpPr>
      <dsp:spPr>
        <a:xfrm>
          <a:off x="0" y="3353708"/>
          <a:ext cx="4094129"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DD4509-1F66-394B-A667-425E9999F118}">
      <dsp:nvSpPr>
        <dsp:cNvPr id="0" name=""/>
        <dsp:cNvSpPr/>
      </dsp:nvSpPr>
      <dsp:spPr>
        <a:xfrm>
          <a:off x="0" y="3353708"/>
          <a:ext cx="4094129" cy="8382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t>Data Characteristics</a:t>
          </a:r>
          <a:r>
            <a:rPr lang="en-US" sz="1100" kern="1200"/>
            <a:t>:</a:t>
          </a:r>
          <a:br>
            <a:rPr lang="en-US" sz="1100" kern="1200"/>
          </a:br>
          <a:r>
            <a:rPr lang="en-US" sz="1100" kern="1200"/>
            <a:t>The dataset was relatively clean and structured, allowing both models to perform exceptionally well without complex tuning.</a:t>
          </a:r>
        </a:p>
      </dsp:txBody>
      <dsp:txXfrm>
        <a:off x="0" y="3353708"/>
        <a:ext cx="4094129" cy="8382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39E311-CAEA-524F-9A6C-20FFF1AA876C}">
      <dsp:nvSpPr>
        <dsp:cNvPr id="0" name=""/>
        <dsp:cNvSpPr/>
      </dsp:nvSpPr>
      <dsp:spPr>
        <a:xfrm>
          <a:off x="0" y="409"/>
          <a:ext cx="5508485"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974E12D-2F5A-0B4D-9584-084823615A93}">
      <dsp:nvSpPr>
        <dsp:cNvPr id="0" name=""/>
        <dsp:cNvSpPr/>
      </dsp:nvSpPr>
      <dsp:spPr>
        <a:xfrm>
          <a:off x="0" y="409"/>
          <a:ext cx="5508485" cy="670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Successful Model Development</a:t>
          </a:r>
          <a:r>
            <a:rPr lang="en-US" sz="1000" kern="1200" dirty="0"/>
            <a:t>:</a:t>
          </a:r>
          <a:br>
            <a:rPr lang="en-US" sz="1000" kern="1200" dirty="0"/>
          </a:br>
          <a:r>
            <a:rPr lang="en-US" sz="1000" kern="1200" dirty="0"/>
            <a:t>Successful Model Development:</a:t>
          </a:r>
        </a:p>
        <a:p>
          <a:pPr marL="0" lvl="0" indent="0" algn="l" defTabSz="444500">
            <a:lnSpc>
              <a:spcPct val="90000"/>
            </a:lnSpc>
            <a:spcBef>
              <a:spcPct val="0"/>
            </a:spcBef>
            <a:spcAft>
              <a:spcPct val="35000"/>
            </a:spcAft>
            <a:buNone/>
          </a:pPr>
          <a:r>
            <a:rPr lang="en-US" sz="1000" kern="1200" dirty="0"/>
            <a:t>The development of Decision Tree and Logistic Regression models achieved complete accuracy in predicting loan results during test data evaluations</a:t>
          </a:r>
          <a:r>
            <a:rPr lang="en-US" sz="500" kern="1200" dirty="0"/>
            <a:t>.</a:t>
          </a:r>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dsp:txBody>
      <dsp:txXfrm>
        <a:off x="0" y="409"/>
        <a:ext cx="5508485" cy="670142"/>
      </dsp:txXfrm>
    </dsp:sp>
    <dsp:sp modelId="{43C697AB-0DE6-7B47-A4D4-98EAEA461C1C}">
      <dsp:nvSpPr>
        <dsp:cNvPr id="0" name=""/>
        <dsp:cNvSpPr/>
      </dsp:nvSpPr>
      <dsp:spPr>
        <a:xfrm>
          <a:off x="0" y="670551"/>
          <a:ext cx="5508485"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E292B4-4005-5440-93FE-A7F2CF68A60E}">
      <dsp:nvSpPr>
        <dsp:cNvPr id="0" name=""/>
        <dsp:cNvSpPr/>
      </dsp:nvSpPr>
      <dsp:spPr>
        <a:xfrm>
          <a:off x="0" y="670551"/>
          <a:ext cx="5508485" cy="670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Key Predictive Factors Identified</a:t>
          </a:r>
          <a:r>
            <a:rPr lang="en-US" sz="1000" kern="1200" dirty="0"/>
            <a:t>:</a:t>
          </a:r>
          <a:br>
            <a:rPr lang="en-US" sz="1000" kern="1200" dirty="0"/>
          </a:br>
          <a:r>
            <a:rPr lang="en-US" sz="1000" kern="1200" dirty="0"/>
            <a:t>The most influential drivers for loans decision making included loan grade as well as income-to-loan ratio and credit history information</a:t>
          </a:r>
          <a:r>
            <a:rPr lang="en-US" sz="500" kern="1200" dirty="0"/>
            <a:t>.</a:t>
          </a:r>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endParaRPr lang="en-US" sz="500" kern="1200" dirty="0"/>
        </a:p>
        <a:p>
          <a:pPr marL="0" lvl="0" indent="0" algn="l" defTabSz="444500">
            <a:lnSpc>
              <a:spcPct val="90000"/>
            </a:lnSpc>
            <a:spcBef>
              <a:spcPct val="0"/>
            </a:spcBef>
            <a:spcAft>
              <a:spcPct val="35000"/>
            </a:spcAft>
            <a:buNone/>
          </a:pPr>
          <a:r>
            <a:rPr lang="en-US" sz="500" kern="1200" dirty="0"/>
            <a:t>.</a:t>
          </a:r>
        </a:p>
      </dsp:txBody>
      <dsp:txXfrm>
        <a:off x="0" y="670551"/>
        <a:ext cx="5508485" cy="670142"/>
      </dsp:txXfrm>
    </dsp:sp>
    <dsp:sp modelId="{13F6A70B-D1E7-3047-8AAF-53DD9BDAB4BD}">
      <dsp:nvSpPr>
        <dsp:cNvPr id="0" name=""/>
        <dsp:cNvSpPr/>
      </dsp:nvSpPr>
      <dsp:spPr>
        <a:xfrm>
          <a:off x="0" y="1340694"/>
          <a:ext cx="5508485"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0C3CCD8-F0A4-8942-8364-C54E839EBE24}">
      <dsp:nvSpPr>
        <dsp:cNvPr id="0" name=""/>
        <dsp:cNvSpPr/>
      </dsp:nvSpPr>
      <dsp:spPr>
        <a:xfrm>
          <a:off x="0" y="1340694"/>
          <a:ext cx="5508485" cy="670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Model Interpretability:</a:t>
          </a:r>
        </a:p>
        <a:p>
          <a:pPr marL="0" lvl="0" indent="0" algn="l" defTabSz="444500">
            <a:lnSpc>
              <a:spcPct val="90000"/>
            </a:lnSpc>
            <a:spcBef>
              <a:spcPct val="0"/>
            </a:spcBef>
            <a:spcAft>
              <a:spcPct val="35000"/>
            </a:spcAft>
            <a:buNone/>
          </a:pPr>
          <a:r>
            <a:rPr lang="en-US" sz="1000" b="0" kern="1200" dirty="0"/>
            <a:t>The decision rules from Decision Tree emerged simple while Logistic Regression showcased its feature importance through coefficient results</a:t>
          </a:r>
          <a:r>
            <a:rPr lang="en-US" sz="500" b="0" kern="1200" dirty="0"/>
            <a:t>.</a:t>
          </a:r>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r>
            <a:rPr lang="en-US" sz="500" kern="1200" dirty="0"/>
            <a:t>s.</a:t>
          </a:r>
        </a:p>
      </dsp:txBody>
      <dsp:txXfrm>
        <a:off x="0" y="1340694"/>
        <a:ext cx="5508485" cy="670142"/>
      </dsp:txXfrm>
    </dsp:sp>
    <dsp:sp modelId="{4DBB6712-782F-134B-A64A-DA2E7E9C4EBA}">
      <dsp:nvSpPr>
        <dsp:cNvPr id="0" name=""/>
        <dsp:cNvSpPr/>
      </dsp:nvSpPr>
      <dsp:spPr>
        <a:xfrm>
          <a:off x="0" y="2010837"/>
          <a:ext cx="5508485"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11C421E-A8B5-3049-9725-D337D17EE7B0}">
      <dsp:nvSpPr>
        <dsp:cNvPr id="0" name=""/>
        <dsp:cNvSpPr/>
      </dsp:nvSpPr>
      <dsp:spPr>
        <a:xfrm>
          <a:off x="0" y="2010837"/>
          <a:ext cx="5508485" cy="670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Business Value:</a:t>
          </a:r>
        </a:p>
        <a:p>
          <a:pPr marL="0" lvl="0" indent="0" algn="l" defTabSz="444500">
            <a:lnSpc>
              <a:spcPct val="90000"/>
            </a:lnSpc>
            <a:spcBef>
              <a:spcPct val="0"/>
            </a:spcBef>
            <a:spcAft>
              <a:spcPct val="35000"/>
            </a:spcAft>
            <a:buNone/>
          </a:pPr>
          <a:r>
            <a:rPr lang="en-US" sz="1000" b="0" kern="1200" dirty="0"/>
            <a:t>Financial institutions gain improved loan approval processes because the models enhance both speed and accuracy as well as transparency</a:t>
          </a:r>
          <a:r>
            <a:rPr lang="en-US" sz="500" b="0" kern="1200" dirty="0"/>
            <a:t>.</a:t>
          </a:r>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r>
            <a:rPr lang="en-US" sz="500" kern="1200" dirty="0"/>
            <a:t>.</a:t>
          </a:r>
        </a:p>
      </dsp:txBody>
      <dsp:txXfrm>
        <a:off x="0" y="2010837"/>
        <a:ext cx="5508485" cy="670142"/>
      </dsp:txXfrm>
    </dsp:sp>
    <dsp:sp modelId="{B9491315-695B-EF40-A0E1-18BF6B11BC9B}">
      <dsp:nvSpPr>
        <dsp:cNvPr id="0" name=""/>
        <dsp:cNvSpPr/>
      </dsp:nvSpPr>
      <dsp:spPr>
        <a:xfrm>
          <a:off x="0" y="2680980"/>
          <a:ext cx="5508485"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BDBB025-A0AD-FC43-9A1C-660CB8494869}">
      <dsp:nvSpPr>
        <dsp:cNvPr id="0" name=""/>
        <dsp:cNvSpPr/>
      </dsp:nvSpPr>
      <dsp:spPr>
        <a:xfrm>
          <a:off x="0" y="2680980"/>
          <a:ext cx="5508485" cy="6701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dirty="0"/>
            <a:t>Recommendation for Deployment:</a:t>
          </a:r>
        </a:p>
        <a:p>
          <a:pPr marL="0" lvl="0" indent="0" algn="l" defTabSz="444500">
            <a:lnSpc>
              <a:spcPct val="90000"/>
            </a:lnSpc>
            <a:spcBef>
              <a:spcPct val="0"/>
            </a:spcBef>
            <a:spcAft>
              <a:spcPct val="35000"/>
            </a:spcAft>
            <a:buNone/>
          </a:pPr>
          <a:r>
            <a:rPr lang="en-US" sz="1000" b="0" kern="1200" dirty="0"/>
            <a:t>A collective evaluation employing valid recent data alongside actual-time data needs to be performed to avoid overfitting problems and ensure operational longevity</a:t>
          </a:r>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r>
            <a:rPr lang="en-US" sz="500" b="1" kern="1200" dirty="0"/>
            <a:t>.</a:t>
          </a:r>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b="1" kern="1200" dirty="0"/>
        </a:p>
        <a:p>
          <a:pPr marL="0" lvl="0" indent="0" algn="l" defTabSz="444500">
            <a:lnSpc>
              <a:spcPct val="90000"/>
            </a:lnSpc>
            <a:spcBef>
              <a:spcPct val="0"/>
            </a:spcBef>
            <a:spcAft>
              <a:spcPct val="35000"/>
            </a:spcAft>
            <a:buNone/>
          </a:pPr>
          <a:endParaRPr lang="en-US" sz="500" kern="1200" dirty="0"/>
        </a:p>
      </dsp:txBody>
      <dsp:txXfrm>
        <a:off x="0" y="2680980"/>
        <a:ext cx="5508485" cy="67014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4/30/25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4/30/25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4/30/25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4/30/25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8.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31.jpe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hyperlink" Target="https://www.kaggle.com/datasets/laotse/credit-risk-dataset" TargetMode="External"/><Relationship Id="rId2" Type="http://schemas.openxmlformats.org/officeDocument/2006/relationships/image" Target="../media/image32.jpeg"/><Relationship Id="rId1" Type="http://schemas.openxmlformats.org/officeDocument/2006/relationships/slideLayout" Target="../slideLayouts/slideLayout2.xml"/><Relationship Id="rId5" Type="http://schemas.openxmlformats.org/officeDocument/2006/relationships/hyperlink" Target="https://scikit-learn.org/stable/supervised_learning.html" TargetMode="External"/><Relationship Id="rId4" Type="http://schemas.openxmlformats.org/officeDocument/2006/relationships/hyperlink" Target="https://docs.databricks.com/machine-learning/inde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1" name="Rectangle 4120">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a:extLst>
              <a:ext uri="{FF2B5EF4-FFF2-40B4-BE49-F238E27FC236}">
                <a16:creationId xmlns:a16="http://schemas.microsoft.com/office/drawing/2014/main" id="{5C877FC1-CA90-5EC7-AB45-B42595650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208" r="8408"/>
          <a:stretch/>
        </p:blipFill>
        <p:spPr bwMode="auto">
          <a:xfrm>
            <a:off x="3082595" y="10"/>
            <a:ext cx="6061405"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4123" name="Freeform: Shape 4115">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719285"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124" name="Freeform: Shape 4117">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711665"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358485" y="771988"/>
            <a:ext cx="3017520" cy="3204134"/>
          </a:xfrm>
        </p:spPr>
        <p:txBody>
          <a:bodyPr anchor="b">
            <a:normAutofit/>
          </a:bodyPr>
          <a:lstStyle/>
          <a:p>
            <a:pPr algn="l">
              <a:lnSpc>
                <a:spcPct val="90000"/>
              </a:lnSpc>
            </a:pPr>
            <a:r>
              <a:rPr lang="en-US" sz="3600" dirty="0">
                <a:latin typeface="Times New Roman" panose="02020603050405020304" pitchFamily="18" charset="0"/>
                <a:cs typeface="Times New Roman" panose="02020603050405020304" pitchFamily="18" charset="0"/>
              </a:rPr>
              <a:t>Loan Approval Prediction Using Machine Learning</a:t>
            </a:r>
          </a:p>
        </p:txBody>
      </p:sp>
      <p:sp>
        <p:nvSpPr>
          <p:cNvPr id="3" name="Subtitle 2"/>
          <p:cNvSpPr>
            <a:spLocks noGrp="1"/>
          </p:cNvSpPr>
          <p:nvPr>
            <p:ph type="subTitle" idx="1"/>
          </p:nvPr>
        </p:nvSpPr>
        <p:spPr>
          <a:xfrm>
            <a:off x="358485" y="4872922"/>
            <a:ext cx="2949980" cy="1208141"/>
          </a:xfrm>
        </p:spPr>
        <p:txBody>
          <a:bodyPr>
            <a:normAutofit/>
          </a:bodyPr>
          <a:lstStyle/>
          <a:p>
            <a:pPr algn="l"/>
            <a:r>
              <a:rPr lang="en-US" sz="1700" dirty="0">
                <a:solidFill>
                  <a:schemeClr val="tx1"/>
                </a:solidFill>
              </a:rPr>
              <a:t>Project By </a:t>
            </a:r>
          </a:p>
          <a:p>
            <a:pPr algn="l"/>
            <a:r>
              <a:rPr lang="en-US" sz="1700" dirty="0">
                <a:solidFill>
                  <a:schemeClr val="tx1"/>
                </a:solidFill>
              </a:rPr>
              <a:t>Keerthi Chandrika Edapalapati</a:t>
            </a:r>
          </a:p>
        </p:txBody>
      </p:sp>
      <p:sp>
        <p:nvSpPr>
          <p:cNvPr id="4120" name="Rectangle 41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22" name="Rectangle 41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30175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33" name="Arc 1032">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2B355DC-9EC2-8D23-F907-003030756D3E}"/>
              </a:ext>
            </a:extLst>
          </p:cNvPr>
          <p:cNvSpPr>
            <a:spLocks noGrp="1"/>
          </p:cNvSpPr>
          <p:nvPr>
            <p:ph type="title"/>
          </p:nvPr>
        </p:nvSpPr>
        <p:spPr>
          <a:xfrm>
            <a:off x="4421221" y="479493"/>
            <a:ext cx="4094129" cy="1325563"/>
          </a:xfrm>
        </p:spPr>
        <p:txBody>
          <a:bodyPr>
            <a:normAutofit/>
          </a:bodyPr>
          <a:lstStyle/>
          <a:p>
            <a:pPr>
              <a:lnSpc>
                <a:spcPct val="90000"/>
              </a:lnSpc>
            </a:pPr>
            <a:r>
              <a:rPr lang="en-US"/>
              <a:t>Executive Summary</a:t>
            </a:r>
          </a:p>
        </p:txBody>
      </p:sp>
      <p:sp>
        <p:nvSpPr>
          <p:cNvPr id="1035" name="Freeform: Shape 1034">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descr="People gathered around a clipboard with a checklist reviewing and discussing tasks and progress Joint stock company contracts Simple and minimalist flat Vector Illustration">
            <a:extLst>
              <a:ext uri="{FF2B5EF4-FFF2-40B4-BE49-F238E27FC236}">
                <a16:creationId xmlns:a16="http://schemas.microsoft.com/office/drawing/2014/main" id="{C0654617-6D87-2BD2-3982-8E0D3388C83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7386" y="1552610"/>
            <a:ext cx="3583036" cy="3583036"/>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FAE50D92-6E80-24D1-E74A-867F3FA8BE95}"/>
              </a:ext>
            </a:extLst>
          </p:cNvPr>
          <p:cNvSpPr>
            <a:spLocks noGrp="1"/>
          </p:cNvSpPr>
          <p:nvPr>
            <p:ph idx="1"/>
          </p:nvPr>
        </p:nvSpPr>
        <p:spPr>
          <a:xfrm>
            <a:off x="4421221" y="1984443"/>
            <a:ext cx="4094129" cy="4192520"/>
          </a:xfrm>
        </p:spPr>
        <p:txBody>
          <a:bodyPr>
            <a:normAutofit/>
          </a:bodyPr>
          <a:lstStyle/>
          <a:p>
            <a:pPr>
              <a:lnSpc>
                <a:spcPct val="90000"/>
              </a:lnSpc>
            </a:pPr>
            <a:r>
              <a:rPr lang="en-US" sz="1500" b="0" i="0" dirty="0">
                <a:effectLst/>
                <a:latin typeface="__GeistSans_3a0388"/>
              </a:rPr>
              <a:t>This research applies machine learning models to historical loan applications for decision prediction in loan approvals. </a:t>
            </a:r>
          </a:p>
          <a:p>
            <a:pPr>
              <a:lnSpc>
                <a:spcPct val="90000"/>
              </a:lnSpc>
            </a:pPr>
            <a:r>
              <a:rPr lang="en-US" sz="1500" b="0" i="0" dirty="0">
                <a:effectLst/>
                <a:latin typeface="__GeistSans_3a0388"/>
              </a:rPr>
              <a:t>Two classification techniques based on </a:t>
            </a:r>
            <a:r>
              <a:rPr lang="en-US" sz="1500" b="1" i="0" dirty="0">
                <a:effectLst/>
                <a:latin typeface="__GeistSans_3a0388"/>
              </a:rPr>
              <a:t>Logistic Regression </a:t>
            </a:r>
            <a:r>
              <a:rPr lang="en-US" sz="1500" b="0" i="0" dirty="0">
                <a:effectLst/>
                <a:latin typeface="__GeistSans_3a0388"/>
              </a:rPr>
              <a:t>and </a:t>
            </a:r>
            <a:r>
              <a:rPr lang="en-US" sz="1500" b="1" i="0" dirty="0">
                <a:effectLst/>
                <a:latin typeface="__GeistSans_3a0388"/>
              </a:rPr>
              <a:t>Decision Tree Classifier </a:t>
            </a:r>
            <a:r>
              <a:rPr lang="en-US" sz="1500" b="0" i="0" dirty="0">
                <a:effectLst/>
                <a:latin typeface="__GeistSans_3a0388"/>
              </a:rPr>
              <a:t>found the key applicant features which had the biggest impact. </a:t>
            </a:r>
          </a:p>
          <a:p>
            <a:pPr>
              <a:lnSpc>
                <a:spcPct val="90000"/>
              </a:lnSpc>
            </a:pPr>
            <a:r>
              <a:rPr lang="en-US" sz="1500" b="0" i="0" dirty="0">
                <a:effectLst/>
                <a:latin typeface="__GeistSans_3a0388"/>
              </a:rPr>
              <a:t>Financial institutions can improve both automation and speed of loan decisions thanks to these models which demonstrate strong accuracy in predictions. </a:t>
            </a:r>
            <a:endParaRPr lang="en-US" sz="1500" dirty="0">
              <a:latin typeface="__GeistSans_3a0388"/>
            </a:endParaRPr>
          </a:p>
          <a:p>
            <a:pPr>
              <a:lnSpc>
                <a:spcPct val="90000"/>
              </a:lnSpc>
            </a:pPr>
            <a:r>
              <a:rPr lang="en-US" sz="1500" b="0" i="0" dirty="0">
                <a:effectLst/>
                <a:latin typeface="__GeistSans_3a0388"/>
              </a:rPr>
              <a:t>The project leveraged </a:t>
            </a:r>
            <a:r>
              <a:rPr lang="en-US" sz="1500" i="0" dirty="0">
                <a:effectLst/>
                <a:latin typeface="__GeistSans_3a0388"/>
              </a:rPr>
              <a:t>PySpark</a:t>
            </a:r>
            <a:r>
              <a:rPr lang="en-US" sz="1500" b="0" i="0" dirty="0">
                <a:effectLst/>
                <a:latin typeface="__GeistSans_3a0388"/>
              </a:rPr>
              <a:t> with </a:t>
            </a:r>
            <a:r>
              <a:rPr lang="en-US" sz="1500" i="0" dirty="0">
                <a:effectLst/>
                <a:latin typeface="__GeistSans_3a0388"/>
              </a:rPr>
              <a:t>MLlib</a:t>
            </a:r>
            <a:r>
              <a:rPr lang="en-US" sz="1500" b="0" i="0" dirty="0">
                <a:effectLst/>
                <a:latin typeface="__GeistSans_3a0388"/>
              </a:rPr>
              <a:t> to develop the model and perform feature engineering while Databricks handled big data processing, and the project utilized Python libraries that included Pandas and Matplotlib and Seaborn.</a:t>
            </a:r>
            <a:endParaRPr lang="en-US" sz="1500" dirty="0"/>
          </a:p>
        </p:txBody>
      </p:sp>
    </p:spTree>
    <p:extLst>
      <p:ext uri="{BB962C8B-B14F-4D97-AF65-F5344CB8AC3E}">
        <p14:creationId xmlns:p14="http://schemas.microsoft.com/office/powerpoint/2010/main" val="3351979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Freeform: Shape 5128">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056495"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609600"/>
            <a:ext cx="3588597" cy="1330840"/>
          </a:xfrm>
        </p:spPr>
        <p:txBody>
          <a:bodyPr>
            <a:normAutofit/>
          </a:bodyPr>
          <a:lstStyle/>
          <a:p>
            <a:pPr>
              <a:lnSpc>
                <a:spcPct val="90000"/>
              </a:lnSpc>
            </a:pPr>
            <a:r>
              <a:rPr lang="en-US" dirty="0"/>
              <a:t>Executive Summary</a:t>
            </a:r>
          </a:p>
        </p:txBody>
      </p:sp>
      <p:pic>
        <p:nvPicPr>
          <p:cNvPr id="5122" name="Picture 2">
            <a:extLst>
              <a:ext uri="{FF2B5EF4-FFF2-40B4-BE49-F238E27FC236}">
                <a16:creationId xmlns:a16="http://schemas.microsoft.com/office/drawing/2014/main" id="{20B652C7-0A57-895F-B8DC-6C9AEE9705B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tretch/>
        </p:blipFill>
        <p:spPr bwMode="auto">
          <a:xfrm>
            <a:off x="5160457" y="2471850"/>
            <a:ext cx="3553238" cy="193651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Content Placeholder 2">
            <a:extLst>
              <a:ext uri="{FF2B5EF4-FFF2-40B4-BE49-F238E27FC236}">
                <a16:creationId xmlns:a16="http://schemas.microsoft.com/office/drawing/2014/main" id="{9BD50AF9-E7E0-D930-CF8B-BFD421ACAB5A}"/>
              </a:ext>
            </a:extLst>
          </p:cNvPr>
          <p:cNvGraphicFramePr>
            <a:graphicFrameLocks noGrp="1"/>
          </p:cNvGraphicFramePr>
          <p:nvPr>
            <p:ph idx="1"/>
            <p:extLst>
              <p:ext uri="{D42A27DB-BD31-4B8C-83A1-F6EECF244321}">
                <p14:modId xmlns:p14="http://schemas.microsoft.com/office/powerpoint/2010/main" val="3651690617"/>
              </p:ext>
            </p:extLst>
          </p:nvPr>
        </p:nvGraphicFramePr>
        <p:xfrm>
          <a:off x="852775" y="2194102"/>
          <a:ext cx="3328527" cy="39085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05" name="Rectangle 310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06" name="Arc 310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4421221" y="479493"/>
            <a:ext cx="4094129" cy="1325563"/>
          </a:xfrm>
        </p:spPr>
        <p:txBody>
          <a:bodyPr>
            <a:normAutofit/>
          </a:bodyPr>
          <a:lstStyle/>
          <a:p>
            <a:pPr>
              <a:lnSpc>
                <a:spcPct val="90000"/>
              </a:lnSpc>
            </a:pPr>
            <a:r>
              <a:rPr lang="en-US"/>
              <a:t>Project Background</a:t>
            </a:r>
          </a:p>
        </p:txBody>
      </p:sp>
      <p:sp>
        <p:nvSpPr>
          <p:cNvPr id="3107" name="Freeform: Shape 308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076" name="Picture 4">
            <a:extLst>
              <a:ext uri="{FF2B5EF4-FFF2-40B4-BE49-F238E27FC236}">
                <a16:creationId xmlns:a16="http://schemas.microsoft.com/office/drawing/2014/main" id="{FA1FD635-1AD7-4E74-572B-A83C3C416B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498"/>
          <a:stretch/>
        </p:blipFill>
        <p:spPr bwMode="auto">
          <a:xfrm>
            <a:off x="527386" y="2420600"/>
            <a:ext cx="3583036" cy="184705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421221" y="1984442"/>
            <a:ext cx="4094129" cy="4873557"/>
          </a:xfrm>
        </p:spPr>
        <p:txBody>
          <a:bodyPr>
            <a:noAutofit/>
          </a:bodyPr>
          <a:lstStyle/>
          <a:p>
            <a:pPr marL="0" indent="0">
              <a:lnSpc>
                <a:spcPct val="90000"/>
              </a:lnSpc>
              <a:buNone/>
            </a:pPr>
            <a:r>
              <a:rPr lang="en-US" sz="1600" b="1" dirty="0"/>
              <a:t>Importance of Predictive Loan Approval</a:t>
            </a:r>
          </a:p>
          <a:p>
            <a:pPr marL="0" indent="0">
              <a:lnSpc>
                <a:spcPct val="90000"/>
              </a:lnSpc>
              <a:buNone/>
            </a:pPr>
            <a:r>
              <a:rPr lang="en-US" sz="1600" b="0" i="0" dirty="0">
                <a:solidFill>
                  <a:srgbClr val="000000"/>
                </a:solidFill>
                <a:effectLst/>
              </a:rPr>
              <a:t>Financial institutions and banks encounter major risks from their decisions about loan applications. Traditional manual reviews present three major weaknesses consisting of inconsistent evaluation and slow pace as well as potential bias. Machine learning models deliver an optimal data-based assessment method which enhances speed along with operational efficiency and decision quality and fairness for applicants.</a:t>
            </a:r>
            <a:endParaRPr lang="en-US" sz="1600" dirty="0"/>
          </a:p>
          <a:p>
            <a:pPr marL="0" indent="0">
              <a:lnSpc>
                <a:spcPct val="90000"/>
              </a:lnSpc>
              <a:buNone/>
            </a:pPr>
            <a:r>
              <a:rPr lang="en-US" sz="1600" b="1" dirty="0"/>
              <a:t>Objective of This Project</a:t>
            </a:r>
          </a:p>
          <a:p>
            <a:pPr marL="0" indent="0">
              <a:lnSpc>
                <a:spcPct val="90000"/>
              </a:lnSpc>
              <a:buNone/>
            </a:pPr>
            <a:r>
              <a:rPr lang="en-US" sz="1600" b="0" i="0" dirty="0">
                <a:solidFill>
                  <a:srgbClr val="000000"/>
                </a:solidFill>
                <a:effectLst/>
              </a:rPr>
              <a:t>The main objective of this work is to create prediction models which precisely determine approval or rejection of loan requests through assessment of applicant data. Our research of historical loan data seeks to identify leading determinants of loan approval which will enable us to develop predictive systems capable of supporting or maybe even replacing manual approval operations.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3EAF38DC-B069-4F74-89ED-92C7579C3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03D54202-311F-9871-B7EC-7B5E42EAB7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2361" r="10896"/>
          <a:stretch/>
        </p:blipFill>
        <p:spPr bwMode="auto">
          <a:xfrm>
            <a:off x="3662267" y="10"/>
            <a:ext cx="5481733" cy="6857990"/>
          </a:xfrm>
          <a:custGeom>
            <a:avLst/>
            <a:gdLst/>
            <a:ahLst/>
            <a:cxnLst/>
            <a:rect l="l" t="t" r="r" b="b"/>
            <a:pathLst>
              <a:path w="7308978" h="6858000">
                <a:moveTo>
                  <a:pt x="0" y="0"/>
                </a:moveTo>
                <a:lnTo>
                  <a:pt x="7308978" y="0"/>
                </a:lnTo>
                <a:lnTo>
                  <a:pt x="7308978" y="6858000"/>
                </a:lnTo>
                <a:lnTo>
                  <a:pt x="0" y="6858000"/>
                </a:lnTo>
                <a:lnTo>
                  <a:pt x="62983" y="6788730"/>
                </a:lnTo>
                <a:cubicBezTo>
                  <a:pt x="773509" y="5928900"/>
                  <a:pt x="1212978" y="4741056"/>
                  <a:pt x="1212978" y="3429000"/>
                </a:cubicBezTo>
                <a:cubicBezTo>
                  <a:pt x="1212978" y="2116944"/>
                  <a:pt x="773509" y="929100"/>
                  <a:pt x="62983" y="69271"/>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1033" name="Freeform: Shape 1032">
            <a:extLst>
              <a:ext uri="{FF2B5EF4-FFF2-40B4-BE49-F238E27FC236}">
                <a16:creationId xmlns:a16="http://schemas.microsoft.com/office/drawing/2014/main" id="{83549E37-C86B-4401-90BD-D8BF83859F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custGeom>
            <a:avLst/>
            <a:gdLst>
              <a:gd name="connsiteX0" fmla="*/ 0 w 6096001"/>
              <a:gd name="connsiteY0" fmla="*/ 0 h 6858000"/>
              <a:gd name="connsiteX1" fmla="*/ 4883023 w 6096001"/>
              <a:gd name="connsiteY1" fmla="*/ 0 h 6858000"/>
              <a:gd name="connsiteX2" fmla="*/ 4946006 w 6096001"/>
              <a:gd name="connsiteY2" fmla="*/ 69271 h 6858000"/>
              <a:gd name="connsiteX3" fmla="*/ 6096001 w 6096001"/>
              <a:gd name="connsiteY3" fmla="*/ 3429000 h 6858000"/>
              <a:gd name="connsiteX4" fmla="*/ 4946006 w 6096001"/>
              <a:gd name="connsiteY4" fmla="*/ 6788730 h 6858000"/>
              <a:gd name="connsiteX5" fmla="*/ 4883023 w 6096001"/>
              <a:gd name="connsiteY5" fmla="*/ 6858000 h 6858000"/>
              <a:gd name="connsiteX6" fmla="*/ 0 w 609600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1" h="6858000">
                <a:moveTo>
                  <a:pt x="0" y="0"/>
                </a:moveTo>
                <a:lnTo>
                  <a:pt x="4883023" y="0"/>
                </a:lnTo>
                <a:lnTo>
                  <a:pt x="4946006" y="69271"/>
                </a:lnTo>
                <a:cubicBezTo>
                  <a:pt x="5656532" y="929100"/>
                  <a:pt x="6096001" y="2116944"/>
                  <a:pt x="6096001" y="3429000"/>
                </a:cubicBezTo>
                <a:cubicBezTo>
                  <a:pt x="6096001" y="4741056"/>
                  <a:pt x="5656532" y="5928900"/>
                  <a:pt x="4946006" y="6788730"/>
                </a:cubicBezTo>
                <a:lnTo>
                  <a:pt x="4883023"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35" name="Freeform: Shape 1034">
            <a:extLst>
              <a:ext uri="{FF2B5EF4-FFF2-40B4-BE49-F238E27FC236}">
                <a16:creationId xmlns:a16="http://schemas.microsoft.com/office/drawing/2014/main" id="{8A17784E-76D8-4521-A77D-0D2EBB923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65142" cy="6858000"/>
          </a:xfrm>
          <a:custGeom>
            <a:avLst/>
            <a:gdLst>
              <a:gd name="connsiteX0" fmla="*/ 0 w 6086857"/>
              <a:gd name="connsiteY0" fmla="*/ 0 h 6858000"/>
              <a:gd name="connsiteX1" fmla="*/ 4873879 w 6086857"/>
              <a:gd name="connsiteY1" fmla="*/ 0 h 6858000"/>
              <a:gd name="connsiteX2" fmla="*/ 4936862 w 6086857"/>
              <a:gd name="connsiteY2" fmla="*/ 69271 h 6858000"/>
              <a:gd name="connsiteX3" fmla="*/ 6086857 w 6086857"/>
              <a:gd name="connsiteY3" fmla="*/ 3429000 h 6858000"/>
              <a:gd name="connsiteX4" fmla="*/ 4936862 w 6086857"/>
              <a:gd name="connsiteY4" fmla="*/ 6788730 h 6858000"/>
              <a:gd name="connsiteX5" fmla="*/ 4873879 w 6086857"/>
              <a:gd name="connsiteY5" fmla="*/ 6858000 h 6858000"/>
              <a:gd name="connsiteX6" fmla="*/ 0 w 608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6857" h="6858000">
                <a:moveTo>
                  <a:pt x="0" y="0"/>
                </a:moveTo>
                <a:lnTo>
                  <a:pt x="4873879" y="0"/>
                </a:lnTo>
                <a:lnTo>
                  <a:pt x="4936862" y="69271"/>
                </a:lnTo>
                <a:cubicBezTo>
                  <a:pt x="5647388" y="929100"/>
                  <a:pt x="6086857" y="2116944"/>
                  <a:pt x="6086857" y="3429000"/>
                </a:cubicBezTo>
                <a:cubicBezTo>
                  <a:pt x="6086857" y="4741056"/>
                  <a:pt x="5647388" y="5928900"/>
                  <a:pt x="4936862" y="6788730"/>
                </a:cubicBezTo>
                <a:lnTo>
                  <a:pt x="487387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281178" y="856488"/>
            <a:ext cx="3744468" cy="1173761"/>
          </a:xfrm>
        </p:spPr>
        <p:txBody>
          <a:bodyPr anchor="b">
            <a:normAutofit/>
          </a:bodyPr>
          <a:lstStyle/>
          <a:p>
            <a:r>
              <a:rPr lang="en-US" sz="3000"/>
              <a:t>Data Description</a:t>
            </a:r>
          </a:p>
        </p:txBody>
      </p:sp>
      <p:sp>
        <p:nvSpPr>
          <p:cNvPr id="1037" name="Rectangle 1036">
            <a:extLst>
              <a:ext uri="{FF2B5EF4-FFF2-40B4-BE49-F238E27FC236}">
                <a16:creationId xmlns:a16="http://schemas.microsoft.com/office/drawing/2014/main" id="{7A0CBFF4-EA32-4FE2-BA6B-8F3A6E6ED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7775" y="322386"/>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39" name="Rectangle 1038">
            <a:extLst>
              <a:ext uri="{FF2B5EF4-FFF2-40B4-BE49-F238E27FC236}">
                <a16:creationId xmlns:a16="http://schemas.microsoft.com/office/drawing/2014/main" id="{FC8D5885-2804-4D3C-BE31-902E4D327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8326" y="2185062"/>
            <a:ext cx="373761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281178" y="2522949"/>
            <a:ext cx="3799332" cy="3717213"/>
          </a:xfrm>
        </p:spPr>
        <p:txBody>
          <a:bodyPr anchor="t">
            <a:noAutofit/>
          </a:bodyPr>
          <a:lstStyle/>
          <a:p>
            <a:pPr marL="0" indent="0">
              <a:lnSpc>
                <a:spcPct val="90000"/>
              </a:lnSpc>
              <a:buNone/>
            </a:pPr>
            <a:r>
              <a:rPr lang="en-US" sz="1600" b="1" dirty="0"/>
              <a:t>Dataset Source</a:t>
            </a:r>
            <a:r>
              <a:rPr lang="en-US" sz="1600" dirty="0"/>
              <a:t>: Kaggle – Credit Risk Dataset</a:t>
            </a:r>
          </a:p>
          <a:p>
            <a:pPr marL="0" indent="0">
              <a:lnSpc>
                <a:spcPct val="90000"/>
              </a:lnSpc>
              <a:buNone/>
            </a:pPr>
            <a:r>
              <a:rPr lang="en-US" sz="1600" b="1" dirty="0"/>
              <a:t>Number of Records</a:t>
            </a:r>
            <a:r>
              <a:rPr lang="en-US" sz="1600" dirty="0"/>
              <a:t>: Approximately 59,000 loan applications</a:t>
            </a:r>
          </a:p>
          <a:p>
            <a:pPr marL="0" indent="0">
              <a:lnSpc>
                <a:spcPct val="90000"/>
              </a:lnSpc>
              <a:buNone/>
            </a:pPr>
            <a:r>
              <a:rPr lang="en-US" sz="1600" b="1" dirty="0"/>
              <a:t>Target Variable</a:t>
            </a:r>
            <a:r>
              <a:rPr lang="en-US" sz="1600" dirty="0"/>
              <a:t>: Loan_Status</a:t>
            </a:r>
          </a:p>
          <a:p>
            <a:pPr marL="457200" lvl="1" indent="0">
              <a:lnSpc>
                <a:spcPct val="90000"/>
              </a:lnSpc>
              <a:buNone/>
            </a:pPr>
            <a:r>
              <a:rPr lang="en-US" sz="1600" dirty="0"/>
              <a:t>(0 = Rejected, 1 = Approved)</a:t>
            </a:r>
          </a:p>
          <a:p>
            <a:pPr marL="0" indent="0">
              <a:lnSpc>
                <a:spcPct val="90000"/>
              </a:lnSpc>
              <a:buNone/>
            </a:pPr>
            <a:r>
              <a:rPr lang="en-US" sz="1600" b="1" dirty="0"/>
              <a:t>Data Characteristics</a:t>
            </a:r>
            <a:r>
              <a:rPr lang="en-US" sz="1600" dirty="0"/>
              <a:t>:</a:t>
            </a:r>
          </a:p>
          <a:p>
            <a:pPr indent="-285750">
              <a:lnSpc>
                <a:spcPct val="90000"/>
              </a:lnSpc>
              <a:buFont typeface="Arial" panose="020B0604020202020204" pitchFamily="34" charset="0"/>
              <a:buChar char="•"/>
            </a:pPr>
            <a:r>
              <a:rPr lang="en-US" sz="1600" b="0" i="0" dirty="0">
                <a:solidFill>
                  <a:srgbClr val="000000"/>
                </a:solidFill>
                <a:effectLst/>
              </a:rPr>
              <a:t>This dataset contains numeric values together with category data types.</a:t>
            </a:r>
          </a:p>
          <a:p>
            <a:pPr indent="-285750">
              <a:lnSpc>
                <a:spcPct val="90000"/>
              </a:lnSpc>
              <a:buFont typeface="Arial" panose="020B0604020202020204" pitchFamily="34" charset="0"/>
              <a:buChar char="•"/>
            </a:pPr>
            <a:r>
              <a:rPr lang="en-US" sz="1600" b="0" i="0" dirty="0">
                <a:solidFill>
                  <a:srgbClr val="000000"/>
                </a:solidFill>
                <a:effectLst/>
              </a:rPr>
              <a:t> The data includes empty values which were replaced through median and mode imputation methods. </a:t>
            </a:r>
          </a:p>
          <a:p>
            <a:pPr indent="-285750">
              <a:lnSpc>
                <a:spcPct val="90000"/>
              </a:lnSpc>
              <a:buFont typeface="Arial" panose="020B0604020202020204" pitchFamily="34" charset="0"/>
              <a:buChar char="•"/>
            </a:pPr>
            <a:r>
              <a:rPr lang="en-US" sz="1600" b="0" i="0" dirty="0">
                <a:solidFill>
                  <a:srgbClr val="000000"/>
                </a:solidFill>
                <a:effectLst/>
              </a:rPr>
              <a:t>The gathered features received encoding procedures in preparation for machine learning modeling operations.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8824632"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52775" y="609597"/>
            <a:ext cx="7044316" cy="1330841"/>
          </a:xfrm>
        </p:spPr>
        <p:txBody>
          <a:bodyPr>
            <a:normAutofit/>
          </a:bodyPr>
          <a:lstStyle/>
          <a:p>
            <a:r>
              <a:rPr lang="en-US" dirty="0"/>
              <a:t>Data Preparation</a:t>
            </a:r>
          </a:p>
        </p:txBody>
      </p:sp>
      <p:graphicFrame>
        <p:nvGraphicFramePr>
          <p:cNvPr id="2052" name="Content Placeholder 2">
            <a:extLst>
              <a:ext uri="{FF2B5EF4-FFF2-40B4-BE49-F238E27FC236}">
                <a16:creationId xmlns:a16="http://schemas.microsoft.com/office/drawing/2014/main" id="{B0D9868A-0012-2E8E-B8F6-BAFEC3050566}"/>
              </a:ext>
            </a:extLst>
          </p:cNvPr>
          <p:cNvGraphicFramePr>
            <a:graphicFrameLocks noGrp="1"/>
          </p:cNvGraphicFramePr>
          <p:nvPr>
            <p:ph idx="1"/>
            <p:extLst>
              <p:ext uri="{D42A27DB-BD31-4B8C-83A1-F6EECF244321}">
                <p14:modId xmlns:p14="http://schemas.microsoft.com/office/powerpoint/2010/main" val="283678377"/>
              </p:ext>
            </p:extLst>
          </p:nvPr>
        </p:nvGraphicFramePr>
        <p:xfrm>
          <a:off x="852775" y="2198362"/>
          <a:ext cx="3719225" cy="3917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Freeform: Shape 19">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036218" y="6209414"/>
            <a:ext cx="5107781"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4" name="Table 3">
            <a:extLst>
              <a:ext uri="{FF2B5EF4-FFF2-40B4-BE49-F238E27FC236}">
                <a16:creationId xmlns:a16="http://schemas.microsoft.com/office/drawing/2014/main" id="{56593D85-8756-3169-604A-EC6287D28310}"/>
              </a:ext>
            </a:extLst>
          </p:cNvPr>
          <p:cNvGraphicFramePr>
            <a:graphicFrameLocks noGrp="1"/>
          </p:cNvGraphicFramePr>
          <p:nvPr>
            <p:extLst>
              <p:ext uri="{D42A27DB-BD31-4B8C-83A1-F6EECF244321}">
                <p14:modId xmlns:p14="http://schemas.microsoft.com/office/powerpoint/2010/main" val="3755427957"/>
              </p:ext>
            </p:extLst>
          </p:nvPr>
        </p:nvGraphicFramePr>
        <p:xfrm>
          <a:off x="4707924" y="2667807"/>
          <a:ext cx="3922981" cy="2914608"/>
        </p:xfrm>
        <a:graphic>
          <a:graphicData uri="http://schemas.openxmlformats.org/drawingml/2006/table">
            <a:tbl>
              <a:tblPr>
                <a:noFill/>
              </a:tblPr>
              <a:tblGrid>
                <a:gridCol w="1379617">
                  <a:extLst>
                    <a:ext uri="{9D8B030D-6E8A-4147-A177-3AD203B41FA5}">
                      <a16:colId xmlns:a16="http://schemas.microsoft.com/office/drawing/2014/main" val="1153691968"/>
                    </a:ext>
                  </a:extLst>
                </a:gridCol>
                <a:gridCol w="2543364">
                  <a:extLst>
                    <a:ext uri="{9D8B030D-6E8A-4147-A177-3AD203B41FA5}">
                      <a16:colId xmlns:a16="http://schemas.microsoft.com/office/drawing/2014/main" val="87854695"/>
                    </a:ext>
                  </a:extLst>
                </a:gridCol>
              </a:tblGrid>
              <a:tr h="287118">
                <a:tc>
                  <a:txBody>
                    <a:bodyPr/>
                    <a:lstStyle/>
                    <a:p>
                      <a:pPr algn="l"/>
                      <a:r>
                        <a:rPr lang="en-US" sz="1200" cap="none" spc="0">
                          <a:solidFill>
                            <a:schemeClr val="tx1"/>
                          </a:solidFill>
                          <a:effectLst/>
                        </a:rPr>
                        <a:t>Step</a:t>
                      </a:r>
                    </a:p>
                  </a:txBody>
                  <a:tcPr marL="0" marR="42793" marT="17117" marB="128380" anchor="ctr">
                    <a:lnL w="12700" cmpd="sng">
                      <a:noFill/>
                      <a:prstDash val="solid"/>
                    </a:lnL>
                    <a:lnR w="12700" cmpd="sng">
                      <a:noFill/>
                      <a:prstDash val="solid"/>
                    </a:lnR>
                    <a:lnT w="6350" cap="flat" cmpd="sng" algn="ctr">
                      <a:solidFill>
                        <a:schemeClr val="tx1"/>
                      </a:solidFill>
                      <a:prstDash val="solid"/>
                    </a:lnT>
                    <a:lnB w="12700" cmpd="sng">
                      <a:noFill/>
                      <a:prstDash val="solid"/>
                    </a:lnB>
                    <a:noFill/>
                  </a:tcPr>
                </a:tc>
                <a:tc>
                  <a:txBody>
                    <a:bodyPr/>
                    <a:lstStyle/>
                    <a:p>
                      <a:pPr algn="l"/>
                      <a:r>
                        <a:rPr lang="en-US" sz="1200" cap="none" spc="0">
                          <a:solidFill>
                            <a:schemeClr val="tx1"/>
                          </a:solidFill>
                          <a:effectLst/>
                        </a:rPr>
                        <a:t>Action Taken</a:t>
                      </a:r>
                    </a:p>
                  </a:txBody>
                  <a:tcPr marL="0" marR="42793" marT="17117" marB="128380" anchor="ctr">
                    <a:lnL w="12700" cmpd="sng">
                      <a:noFill/>
                      <a:prstDash val="solid"/>
                    </a:lnL>
                    <a:lnR w="12700" cmpd="sng">
                      <a:noFill/>
                      <a:prstDash val="solid"/>
                    </a:lnR>
                    <a:lnT w="6350" cap="flat" cmpd="sng" algn="ctr">
                      <a:solidFill>
                        <a:schemeClr val="tx1"/>
                      </a:solidFill>
                      <a:prstDash val="solid"/>
                    </a:lnT>
                    <a:lnB w="12700" cmpd="sng">
                      <a:noFill/>
                      <a:prstDash val="solid"/>
                    </a:lnB>
                    <a:noFill/>
                  </a:tcPr>
                </a:tc>
                <a:extLst>
                  <a:ext uri="{0D108BD9-81ED-4DB2-BD59-A6C34878D82A}">
                    <a16:rowId xmlns:a16="http://schemas.microsoft.com/office/drawing/2014/main" val="471862417"/>
                  </a:ext>
                </a:extLst>
              </a:tr>
              <a:tr h="414160">
                <a:tc>
                  <a:txBody>
                    <a:bodyPr/>
                    <a:lstStyle/>
                    <a:p>
                      <a:pPr algn="l"/>
                      <a:r>
                        <a:rPr lang="en-US" sz="1200" cap="none" spc="0">
                          <a:solidFill>
                            <a:schemeClr val="tx1"/>
                          </a:solidFill>
                          <a:effectLst/>
                        </a:rPr>
                        <a:t>Handling Missing Values</a:t>
                      </a:r>
                    </a:p>
                  </a:txBody>
                  <a:tcPr marL="0" marR="42793" marT="17117" marB="1283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r>
                        <a:rPr lang="en-US" sz="1200" cap="none" spc="0" dirty="0">
                          <a:solidFill>
                            <a:schemeClr val="tx1"/>
                          </a:solidFill>
                          <a:effectLst/>
                        </a:rPr>
                        <a:t>Filled numerical columns with median values; categorical columns with mode.</a:t>
                      </a:r>
                    </a:p>
                  </a:txBody>
                  <a:tcPr marL="0" marR="42793" marT="17117" marB="12838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980364710"/>
                  </a:ext>
                </a:extLst>
              </a:tr>
              <a:tr h="414160">
                <a:tc>
                  <a:txBody>
                    <a:bodyPr/>
                    <a:lstStyle/>
                    <a:p>
                      <a:pPr algn="l"/>
                      <a:r>
                        <a:rPr lang="en-US" sz="1200" cap="none" spc="0">
                          <a:solidFill>
                            <a:schemeClr val="tx1"/>
                          </a:solidFill>
                          <a:effectLst/>
                        </a:rPr>
                        <a:t>Encoding Categorical Features</a:t>
                      </a:r>
                    </a:p>
                  </a:txBody>
                  <a:tcPr marL="0" marR="42793" marT="17117" marB="1283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r>
                        <a:rPr lang="en-US" sz="1200" cap="none" spc="0" dirty="0">
                          <a:solidFill>
                            <a:schemeClr val="tx1"/>
                          </a:solidFill>
                          <a:effectLst/>
                        </a:rPr>
                        <a:t>Used </a:t>
                      </a:r>
                      <a:r>
                        <a:rPr lang="en-US" sz="1200" cap="none" spc="0" dirty="0" err="1">
                          <a:solidFill>
                            <a:schemeClr val="tx1"/>
                          </a:solidFill>
                          <a:effectLst/>
                        </a:rPr>
                        <a:t>StringIndexer</a:t>
                      </a:r>
                      <a:r>
                        <a:rPr lang="en-US" sz="1200" cap="none" spc="0" dirty="0">
                          <a:solidFill>
                            <a:schemeClr val="tx1"/>
                          </a:solidFill>
                          <a:effectLst/>
                        </a:rPr>
                        <a:t> to convert categories to numeric indices.</a:t>
                      </a:r>
                    </a:p>
                  </a:txBody>
                  <a:tcPr marL="0" marR="42793" marT="17117" marB="12838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434291473"/>
                  </a:ext>
                </a:extLst>
              </a:tr>
              <a:tr h="414160">
                <a:tc>
                  <a:txBody>
                    <a:bodyPr/>
                    <a:lstStyle/>
                    <a:p>
                      <a:pPr algn="l"/>
                      <a:r>
                        <a:rPr lang="en-US" sz="1200" cap="none" spc="0">
                          <a:solidFill>
                            <a:schemeClr val="tx1"/>
                          </a:solidFill>
                          <a:effectLst/>
                        </a:rPr>
                        <a:t>Feature Engineering</a:t>
                      </a:r>
                    </a:p>
                  </a:txBody>
                  <a:tcPr marL="0" marR="42793" marT="17117" marB="1283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r>
                        <a:rPr lang="en-US" sz="1200" cap="none" spc="0" dirty="0">
                          <a:solidFill>
                            <a:schemeClr val="tx1"/>
                          </a:solidFill>
                          <a:effectLst/>
                        </a:rPr>
                        <a:t>Assembled all features into a single feature vector using </a:t>
                      </a:r>
                      <a:r>
                        <a:rPr lang="en-US" sz="1200" cap="none" spc="0" dirty="0" err="1">
                          <a:solidFill>
                            <a:schemeClr val="tx1"/>
                          </a:solidFill>
                          <a:effectLst/>
                        </a:rPr>
                        <a:t>VectorAssembler</a:t>
                      </a:r>
                      <a:r>
                        <a:rPr lang="en-US" sz="1200" cap="none" spc="0" dirty="0">
                          <a:solidFill>
                            <a:schemeClr val="tx1"/>
                          </a:solidFill>
                          <a:effectLst/>
                        </a:rPr>
                        <a:t>.</a:t>
                      </a:r>
                    </a:p>
                  </a:txBody>
                  <a:tcPr marL="0" marR="42793" marT="17117" marB="12838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010332062"/>
                  </a:ext>
                </a:extLst>
              </a:tr>
              <a:tr h="414160">
                <a:tc>
                  <a:txBody>
                    <a:bodyPr/>
                    <a:lstStyle/>
                    <a:p>
                      <a:pPr algn="l"/>
                      <a:r>
                        <a:rPr lang="en-US" sz="1200" cap="none" spc="0">
                          <a:solidFill>
                            <a:schemeClr val="tx1"/>
                          </a:solidFill>
                          <a:effectLst/>
                        </a:rPr>
                        <a:t>Train-Test Split</a:t>
                      </a:r>
                    </a:p>
                  </a:txBody>
                  <a:tcPr marL="0" marR="42793" marT="17117" marB="1283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r>
                        <a:rPr lang="en-US" sz="1200" cap="none" spc="0" dirty="0">
                          <a:solidFill>
                            <a:schemeClr val="tx1"/>
                          </a:solidFill>
                          <a:effectLst/>
                        </a:rPr>
                        <a:t>Split data into 80% training and 20% testing datasets.</a:t>
                      </a:r>
                    </a:p>
                  </a:txBody>
                  <a:tcPr marL="0" marR="42793" marT="17117" marB="12838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12303647"/>
                  </a:ext>
                </a:extLst>
              </a:tr>
              <a:tr h="541203">
                <a:tc>
                  <a:txBody>
                    <a:bodyPr/>
                    <a:lstStyle/>
                    <a:p>
                      <a:pPr algn="l"/>
                      <a:endParaRPr lang="en-US" sz="900" cap="none" spc="0" dirty="0">
                        <a:solidFill>
                          <a:schemeClr val="tx1"/>
                        </a:solidFill>
                        <a:effectLst/>
                      </a:endParaRPr>
                    </a:p>
                  </a:txBody>
                  <a:tcPr marL="0" marR="42793" marT="17117" marB="128380" anchor="ctr">
                    <a:lnL w="12700" cmpd="sng">
                      <a:noFill/>
                      <a:prstDash val="solid"/>
                    </a:lnL>
                    <a:lnR w="12700" cmpd="sng">
                      <a:noFill/>
                      <a:prstDash val="solid"/>
                    </a:lnR>
                    <a:lnT w="12700" cmpd="sng">
                      <a:noFill/>
                      <a:prstDash val="solid"/>
                    </a:lnT>
                    <a:lnB w="12700" cmpd="sng">
                      <a:noFill/>
                      <a:prstDash val="solid"/>
                    </a:lnB>
                    <a:noFill/>
                  </a:tcPr>
                </a:tc>
                <a:tc>
                  <a:txBody>
                    <a:bodyPr/>
                    <a:lstStyle/>
                    <a:p>
                      <a:pPr algn="l"/>
                      <a:endParaRPr lang="en-US" sz="900" cap="none" spc="0" dirty="0">
                        <a:solidFill>
                          <a:schemeClr val="tx1"/>
                        </a:solidFill>
                        <a:effectLst/>
                      </a:endParaRPr>
                    </a:p>
                  </a:txBody>
                  <a:tcPr marL="0" marR="42793" marT="17117" marB="128380"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525581879"/>
                  </a:ext>
                </a:extLst>
              </a:tr>
            </a:tbl>
          </a:graphicData>
        </a:graphic>
      </p:graphicFrame>
      <p:pic>
        <p:nvPicPr>
          <p:cNvPr id="2050" name="Picture 2" descr="A blue gear with a check mark inside&#10;&#10;AI-generated content may be incorrect.">
            <a:extLst>
              <a:ext uri="{FF2B5EF4-FFF2-40B4-BE49-F238E27FC236}">
                <a16:creationId xmlns:a16="http://schemas.microsoft.com/office/drawing/2014/main" id="{75676EA0-999D-D68D-2CC4-0E1C80AB62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2584" y="731670"/>
            <a:ext cx="1088768" cy="10887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Freeform: Shape 47">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1754"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0" name="Freeform: Shape 49">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34896"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278892" y="900689"/>
            <a:ext cx="2578608" cy="1239012"/>
          </a:xfrm>
        </p:spPr>
        <p:txBody>
          <a:bodyPr anchor="ctr">
            <a:normAutofit/>
          </a:bodyPr>
          <a:lstStyle/>
          <a:p>
            <a:r>
              <a:rPr lang="en-US" sz="2400" dirty="0"/>
              <a:t>Decision Tree Classifier</a:t>
            </a:r>
          </a:p>
        </p:txBody>
      </p:sp>
      <p:sp>
        <p:nvSpPr>
          <p:cNvPr id="52" name="Rectangle 51">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4" name="Rectangle 53">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919" y="2443480"/>
            <a:ext cx="25374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278320" y="2555410"/>
            <a:ext cx="2579180" cy="3886881"/>
          </a:xfrm>
        </p:spPr>
        <p:txBody>
          <a:bodyPr anchor="t">
            <a:normAutofit fontScale="25000" lnSpcReduction="20000"/>
          </a:bodyPr>
          <a:lstStyle/>
          <a:p>
            <a:pPr>
              <a:lnSpc>
                <a:spcPct val="90000"/>
              </a:lnSpc>
            </a:pPr>
            <a:r>
              <a:rPr lang="en-US" sz="4800" b="0" i="0" dirty="0">
                <a:solidFill>
                  <a:srgbClr val="000000"/>
                </a:solidFill>
                <a:effectLst/>
              </a:rPr>
              <a:t>The Decision Tree Classifier received applicant data to establish predictions about loan application approvals or denials through training. Decision Trees extract basic "if-else" decision rules during data learning which makes them easily comprehensible than other machine learning systems.</a:t>
            </a:r>
          </a:p>
          <a:p>
            <a:pPr marL="0" indent="0">
              <a:lnSpc>
                <a:spcPct val="90000"/>
              </a:lnSpc>
              <a:buNone/>
            </a:pPr>
            <a:r>
              <a:rPr lang="en-US" sz="4800" b="1" dirty="0"/>
              <a:t>        Training Details:</a:t>
            </a:r>
            <a:endParaRPr lang="en-US" sz="4800" dirty="0"/>
          </a:p>
          <a:p>
            <a:pPr>
              <a:lnSpc>
                <a:spcPct val="90000"/>
              </a:lnSpc>
              <a:buFont typeface="Arial" panose="020B0604020202020204" pitchFamily="34" charset="0"/>
              <a:buChar char="•"/>
            </a:pPr>
            <a:r>
              <a:rPr lang="en-US" sz="4800" b="0" i="0" dirty="0">
                <a:solidFill>
                  <a:srgbClr val="000000"/>
                </a:solidFill>
                <a:effectLst/>
              </a:rPr>
              <a:t>The target variable serves as the label column which contains values 0 representing rejected status while 1 stands for approved status. </a:t>
            </a:r>
          </a:p>
          <a:p>
            <a:pPr>
              <a:lnSpc>
                <a:spcPct val="90000"/>
              </a:lnSpc>
              <a:buFont typeface="Arial" panose="020B0604020202020204" pitchFamily="34" charset="0"/>
              <a:buChar char="•"/>
            </a:pPr>
            <a:r>
              <a:rPr lang="en-US" sz="4800" b="0" i="0" dirty="0">
                <a:solidFill>
                  <a:srgbClr val="000000"/>
                </a:solidFill>
                <a:effectLst/>
              </a:rPr>
              <a:t>The application includes twelve features which consist of Income, Loan Amount, Employment Length, Credit History and Loan Grade among others. The maximum depth of the trees should be fixed at 5 to enable some degree of complexity when required. Training caused the model to reach depth = 1 because the data separation proved possible with only one essential feature.</a:t>
            </a:r>
            <a:endParaRPr lang="en-US" sz="4800" dirty="0"/>
          </a:p>
          <a:p>
            <a:pPr>
              <a:lnSpc>
                <a:spcPct val="90000"/>
              </a:lnSpc>
            </a:pPr>
            <a:endParaRPr lang="en-US" sz="900" dirty="0"/>
          </a:p>
        </p:txBody>
      </p:sp>
      <p:pic>
        <p:nvPicPr>
          <p:cNvPr id="7" name="Picture 6">
            <a:extLst>
              <a:ext uri="{FF2B5EF4-FFF2-40B4-BE49-F238E27FC236}">
                <a16:creationId xmlns:a16="http://schemas.microsoft.com/office/drawing/2014/main" id="{6F65D775-9EB8-1441-AC52-429DD10925F0}"/>
              </a:ext>
            </a:extLst>
          </p:cNvPr>
          <p:cNvPicPr>
            <a:picLocks noChangeAspect="1"/>
          </p:cNvPicPr>
          <p:nvPr/>
        </p:nvPicPr>
        <p:blipFill>
          <a:blip r:embed="rId2"/>
          <a:stretch>
            <a:fillRect/>
          </a:stretch>
        </p:blipFill>
        <p:spPr>
          <a:xfrm>
            <a:off x="3675888" y="2148969"/>
            <a:ext cx="5191506" cy="26606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4FD7CF-83AE-B2CD-7CC3-A9F9C2FCCAA0}"/>
            </a:ext>
          </a:extLst>
        </p:cNvPr>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B44D54AD-17CB-B249-E7D1-EB4990731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8" name="Freeform: Shape 47">
            <a:extLst>
              <a:ext uri="{FF2B5EF4-FFF2-40B4-BE49-F238E27FC236}">
                <a16:creationId xmlns:a16="http://schemas.microsoft.com/office/drawing/2014/main" id="{B3FA4D3B-C156-2D7D-B682-8508FC5A6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41754"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50" name="Freeform: Shape 49">
            <a:extLst>
              <a:ext uri="{FF2B5EF4-FFF2-40B4-BE49-F238E27FC236}">
                <a16:creationId xmlns:a16="http://schemas.microsoft.com/office/drawing/2014/main" id="{8799E5CE-23B5-3AC6-D2EE-129682F669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334896"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8C50A13-3C68-A38A-4B29-04F2F1167DB2}"/>
              </a:ext>
            </a:extLst>
          </p:cNvPr>
          <p:cNvSpPr>
            <a:spLocks noGrp="1"/>
          </p:cNvSpPr>
          <p:nvPr>
            <p:ph type="title"/>
          </p:nvPr>
        </p:nvSpPr>
        <p:spPr>
          <a:xfrm>
            <a:off x="278320" y="1161288"/>
            <a:ext cx="2578608" cy="1239012"/>
          </a:xfrm>
        </p:spPr>
        <p:txBody>
          <a:bodyPr anchor="ctr">
            <a:normAutofit/>
          </a:bodyPr>
          <a:lstStyle/>
          <a:p>
            <a:r>
              <a:rPr lang="en-US" sz="2400"/>
              <a:t>Decision Tree Classifier</a:t>
            </a:r>
          </a:p>
        </p:txBody>
      </p:sp>
      <p:sp>
        <p:nvSpPr>
          <p:cNvPr id="52" name="Rectangle 51">
            <a:extLst>
              <a:ext uri="{FF2B5EF4-FFF2-40B4-BE49-F238E27FC236}">
                <a16:creationId xmlns:a16="http://schemas.microsoft.com/office/drawing/2014/main" id="{A480E2EA-B509-71EE-1D71-8DC51D02B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96012"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4" name="Rectangle 53">
            <a:extLst>
              <a:ext uri="{FF2B5EF4-FFF2-40B4-BE49-F238E27FC236}">
                <a16:creationId xmlns:a16="http://schemas.microsoft.com/office/drawing/2014/main" id="{09530509-9124-857E-8C14-E92C0A67B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6919" y="2443480"/>
            <a:ext cx="25374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83B53A4-B9C5-701D-AE8E-4943269ACB36}"/>
              </a:ext>
            </a:extLst>
          </p:cNvPr>
          <p:cNvSpPr>
            <a:spLocks noGrp="1"/>
          </p:cNvSpPr>
          <p:nvPr>
            <p:ph idx="1"/>
          </p:nvPr>
        </p:nvSpPr>
        <p:spPr>
          <a:xfrm>
            <a:off x="278320" y="2718054"/>
            <a:ext cx="2579180" cy="3657346"/>
          </a:xfrm>
        </p:spPr>
        <p:txBody>
          <a:bodyPr anchor="t">
            <a:normAutofit fontScale="25000" lnSpcReduction="20000"/>
          </a:bodyPr>
          <a:lstStyle/>
          <a:p>
            <a:pPr>
              <a:lnSpc>
                <a:spcPct val="90000"/>
              </a:lnSpc>
              <a:buNone/>
            </a:pPr>
            <a:r>
              <a:rPr lang="en-US" sz="4900" b="1" dirty="0"/>
              <a:t>Model Performance:</a:t>
            </a:r>
            <a:endParaRPr lang="en-US" sz="4900" dirty="0"/>
          </a:p>
          <a:p>
            <a:pPr>
              <a:lnSpc>
                <a:spcPct val="90000"/>
              </a:lnSpc>
              <a:buFont typeface="Arial" panose="020B0604020202020204" pitchFamily="34" charset="0"/>
              <a:buChar char="•"/>
            </a:pPr>
            <a:r>
              <a:rPr lang="en-US" sz="4900" b="1" dirty="0"/>
              <a:t>Test Set Accuracy</a:t>
            </a:r>
            <a:r>
              <a:rPr lang="en-US" sz="4900" dirty="0"/>
              <a:t>: </a:t>
            </a:r>
            <a:r>
              <a:rPr lang="en-US" sz="4900" b="1" dirty="0"/>
              <a:t>100%</a:t>
            </a:r>
            <a:br>
              <a:rPr lang="en-US" sz="4900" dirty="0"/>
            </a:br>
            <a:r>
              <a:rPr lang="en-US" sz="4900" dirty="0"/>
              <a:t>The Decision Tree model correctly classified all loan applications in the test dataset.</a:t>
            </a:r>
          </a:p>
          <a:p>
            <a:pPr>
              <a:lnSpc>
                <a:spcPct val="90000"/>
              </a:lnSpc>
              <a:buFont typeface="Arial" panose="020B0604020202020204" pitchFamily="34" charset="0"/>
              <a:buChar char="•"/>
            </a:pPr>
            <a:r>
              <a:rPr lang="en-US" sz="4900" b="1" dirty="0"/>
              <a:t>Model Structure</a:t>
            </a:r>
            <a:r>
              <a:rPr lang="en-US" sz="4900" dirty="0"/>
              <a:t>:</a:t>
            </a:r>
          </a:p>
          <a:p>
            <a:pPr marL="742950" lvl="1" indent="-285750">
              <a:lnSpc>
                <a:spcPct val="90000"/>
              </a:lnSpc>
              <a:buFont typeface="Arial" panose="020B0604020202020204" pitchFamily="34" charset="0"/>
              <a:buChar char="•"/>
            </a:pPr>
            <a:r>
              <a:rPr lang="en-US" sz="4900" b="1" dirty="0"/>
              <a:t>Tree Depth</a:t>
            </a:r>
            <a:r>
              <a:rPr lang="en-US" sz="4900" dirty="0"/>
              <a:t>: 1</a:t>
            </a:r>
          </a:p>
          <a:p>
            <a:pPr marL="742950" lvl="1" indent="-285750">
              <a:lnSpc>
                <a:spcPct val="90000"/>
              </a:lnSpc>
              <a:buFont typeface="Arial" panose="020B0604020202020204" pitchFamily="34" charset="0"/>
              <a:buChar char="•"/>
            </a:pPr>
            <a:r>
              <a:rPr lang="en-US" sz="4900" b="1" dirty="0"/>
              <a:t>Number of Nodes</a:t>
            </a:r>
            <a:r>
              <a:rPr lang="en-US" sz="4900" dirty="0"/>
              <a:t>: 3 (root node and two leaf nodes)</a:t>
            </a:r>
          </a:p>
          <a:p>
            <a:pPr marL="742950" lvl="1" indent="-285750">
              <a:lnSpc>
                <a:spcPct val="90000"/>
              </a:lnSpc>
              <a:buFont typeface="Arial" panose="020B0604020202020204" pitchFamily="34" charset="0"/>
              <a:buChar char="•"/>
            </a:pPr>
            <a:r>
              <a:rPr lang="en-US" sz="4900" b="1" dirty="0"/>
              <a:t>Key Splitting Feature</a:t>
            </a:r>
            <a:r>
              <a:rPr lang="en-US" sz="4900" dirty="0"/>
              <a:t>: </a:t>
            </a:r>
            <a:r>
              <a:rPr lang="en-US" sz="4900" b="0" i="0" dirty="0">
                <a:solidFill>
                  <a:srgbClr val="000000"/>
                </a:solidFill>
                <a:effectLst/>
              </a:rPr>
              <a:t>Feature 6 plays a vital role in splitting the design because it represents a critical financial indicator (potentially loan percent income or loan grade).</a:t>
            </a:r>
          </a:p>
          <a:p>
            <a:pPr marL="742950" lvl="1" indent="-285750">
              <a:lnSpc>
                <a:spcPct val="90000"/>
              </a:lnSpc>
              <a:buFont typeface="Arial" panose="020B0604020202020204" pitchFamily="34" charset="0"/>
              <a:buChar char="•"/>
            </a:pPr>
            <a:r>
              <a:rPr lang="en-US" sz="4900" b="1" dirty="0"/>
              <a:t>Decision Rule Derived</a:t>
            </a:r>
            <a:r>
              <a:rPr lang="en-US" sz="4900" dirty="0"/>
              <a:t>:</a:t>
            </a:r>
          </a:p>
          <a:p>
            <a:pPr marL="742950" lvl="1" indent="-285750">
              <a:lnSpc>
                <a:spcPct val="90000"/>
              </a:lnSpc>
              <a:buFont typeface="Arial" panose="020B0604020202020204" pitchFamily="34" charset="0"/>
              <a:buChar char="•"/>
            </a:pPr>
            <a:r>
              <a:rPr lang="en-US" sz="4900" b="0" i="0" dirty="0">
                <a:solidFill>
                  <a:srgbClr val="000000"/>
                </a:solidFill>
                <a:effectLst/>
              </a:rPr>
              <a:t>Based on the value of feature 6 (&lt; 0.5) the system will predict Loan Rejection (0.0). </a:t>
            </a:r>
          </a:p>
          <a:p>
            <a:pPr marL="742950" lvl="1" indent="-285750">
              <a:lnSpc>
                <a:spcPct val="90000"/>
              </a:lnSpc>
              <a:buFont typeface="Arial" panose="020B0604020202020204" pitchFamily="34" charset="0"/>
              <a:buChar char="•"/>
            </a:pPr>
            <a:r>
              <a:rPr lang="en-US" sz="4900" b="0" i="0" dirty="0">
                <a:solidFill>
                  <a:srgbClr val="000000"/>
                </a:solidFill>
                <a:effectLst/>
              </a:rPr>
              <a:t>A prediction of loan approval (1.0) results from values exceeding 0.5 for feature 6.</a:t>
            </a:r>
            <a:endParaRPr lang="en-US" sz="4900" dirty="0"/>
          </a:p>
          <a:p>
            <a:pPr marL="0" indent="0">
              <a:lnSpc>
                <a:spcPct val="90000"/>
              </a:lnSpc>
              <a:buNone/>
            </a:pPr>
            <a:endParaRPr lang="en-US" sz="1000" dirty="0"/>
          </a:p>
        </p:txBody>
      </p:sp>
      <p:pic>
        <p:nvPicPr>
          <p:cNvPr id="4" name="Picture 3">
            <a:extLst>
              <a:ext uri="{FF2B5EF4-FFF2-40B4-BE49-F238E27FC236}">
                <a16:creationId xmlns:a16="http://schemas.microsoft.com/office/drawing/2014/main" id="{2EBF4971-ABDA-5CA9-E78A-C45FD67AACB6}"/>
              </a:ext>
            </a:extLst>
          </p:cNvPr>
          <p:cNvPicPr>
            <a:picLocks noChangeAspect="1"/>
          </p:cNvPicPr>
          <p:nvPr/>
        </p:nvPicPr>
        <p:blipFill>
          <a:blip r:embed="rId2"/>
          <a:stretch>
            <a:fillRect/>
          </a:stretch>
        </p:blipFill>
        <p:spPr>
          <a:xfrm>
            <a:off x="3472250" y="2786676"/>
            <a:ext cx="5597610" cy="1767616"/>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4012067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24007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609600"/>
            <a:ext cx="2804505" cy="1330839"/>
          </a:xfrm>
        </p:spPr>
        <p:txBody>
          <a:bodyPr>
            <a:normAutofit/>
          </a:bodyPr>
          <a:lstStyle/>
          <a:p>
            <a:pPr>
              <a:lnSpc>
                <a:spcPct val="90000"/>
              </a:lnSpc>
            </a:pPr>
            <a:r>
              <a:rPr lang="en-US"/>
              <a:t>Logistic Regression</a:t>
            </a:r>
          </a:p>
        </p:txBody>
      </p:sp>
      <p:sp>
        <p:nvSpPr>
          <p:cNvPr id="3" name="Content Placeholder 2"/>
          <p:cNvSpPr>
            <a:spLocks noGrp="1"/>
          </p:cNvSpPr>
          <p:nvPr>
            <p:ph idx="1"/>
          </p:nvPr>
        </p:nvSpPr>
        <p:spPr>
          <a:xfrm>
            <a:off x="646774" y="2194102"/>
            <a:ext cx="2570251" cy="3908586"/>
          </a:xfrm>
        </p:spPr>
        <p:txBody>
          <a:bodyPr>
            <a:normAutofit/>
          </a:bodyPr>
          <a:lstStyle/>
          <a:p>
            <a:pPr>
              <a:lnSpc>
                <a:spcPct val="90000"/>
              </a:lnSpc>
            </a:pPr>
            <a:r>
              <a:rPr lang="en-US" sz="900">
                <a:effectLst/>
              </a:rPr>
              <a:t>The prediction model established loan approval possibilities by using Logistic Regression analysis on applicant data.</a:t>
            </a:r>
          </a:p>
          <a:p>
            <a:pPr>
              <a:lnSpc>
                <a:spcPct val="90000"/>
              </a:lnSpc>
            </a:pPr>
            <a:r>
              <a:rPr lang="en-US" sz="900">
                <a:effectLst/>
              </a:rPr>
              <a:t>The machine learning model known as Logistic Regression enables developers to connect predictor variables with a dual response variable (approved or rejected) in a popular yet clear system.</a:t>
            </a:r>
          </a:p>
          <a:p>
            <a:pPr>
              <a:lnSpc>
                <a:spcPct val="90000"/>
              </a:lnSpc>
            </a:pPr>
            <a:r>
              <a:rPr lang="en-US" sz="900">
                <a:effectLst/>
              </a:rPr>
              <a:t>Each segment of the bar chart shows the degree of influence it has on authorizing loans.</a:t>
            </a:r>
          </a:p>
          <a:p>
            <a:pPr>
              <a:lnSpc>
                <a:spcPct val="90000"/>
              </a:lnSpc>
            </a:pPr>
            <a:r>
              <a:rPr lang="en-US" sz="900">
                <a:effectLst/>
              </a:rPr>
              <a:t>Each positive coefficient value produces an increased opportunity of approval for the applicant.</a:t>
            </a:r>
          </a:p>
          <a:p>
            <a:pPr>
              <a:lnSpc>
                <a:spcPct val="90000"/>
              </a:lnSpc>
            </a:pPr>
            <a:r>
              <a:rPr lang="en-US" sz="900">
                <a:effectLst/>
              </a:rPr>
              <a:t>Negative coefficients  will reduce it.</a:t>
            </a:r>
          </a:p>
          <a:p>
            <a:pPr>
              <a:lnSpc>
                <a:spcPct val="90000"/>
              </a:lnSpc>
            </a:pPr>
            <a:r>
              <a:rPr lang="en-US" sz="900">
                <a:effectLst/>
              </a:rPr>
              <a:t>Among all features loan_percent_income delivers the maximum positive impact with loan_grade taking the second position.</a:t>
            </a:r>
          </a:p>
          <a:p>
            <a:pPr>
              <a:lnSpc>
                <a:spcPct val="90000"/>
              </a:lnSpc>
            </a:pPr>
            <a:r>
              <a:rPr lang="en-US" sz="900">
                <a:effectLst/>
              </a:rPr>
              <a:t>When person_home_ownership_index joins with loan_intent_encoded the total odds of loan approval reduce.</a:t>
            </a:r>
          </a:p>
          <a:p>
            <a:pPr>
              <a:lnSpc>
                <a:spcPct val="90000"/>
              </a:lnSpc>
            </a:pPr>
            <a:r>
              <a:rPr lang="en-US" sz="900">
                <a:effectLst/>
              </a:rPr>
              <a:t>The analysis results show that both loan_amnt and person_income essentially do not affect the outcome.</a:t>
            </a:r>
          </a:p>
          <a:p>
            <a:pPr>
              <a:lnSpc>
                <a:spcPct val="90000"/>
              </a:lnSpc>
            </a:pPr>
            <a:endParaRPr lang="en-US" sz="900"/>
          </a:p>
        </p:txBody>
      </p:sp>
      <p:pic>
        <p:nvPicPr>
          <p:cNvPr id="4" name="Picture 3">
            <a:extLst>
              <a:ext uri="{FF2B5EF4-FFF2-40B4-BE49-F238E27FC236}">
                <a16:creationId xmlns:a16="http://schemas.microsoft.com/office/drawing/2014/main" id="{7D0D9FA8-D210-009A-EF07-569BF1E62D91}"/>
              </a:ext>
            </a:extLst>
          </p:cNvPr>
          <p:cNvPicPr>
            <a:picLocks noChangeAspect="1"/>
          </p:cNvPicPr>
          <p:nvPr/>
        </p:nvPicPr>
        <p:blipFill>
          <a:blip r:embed="rId2"/>
          <a:stretch>
            <a:fillRect/>
          </a:stretch>
        </p:blipFill>
        <p:spPr>
          <a:xfrm>
            <a:off x="4084092" y="2130980"/>
            <a:ext cx="4616356" cy="26197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08610" y="991443"/>
            <a:ext cx="3332365" cy="1087819"/>
          </a:xfrm>
        </p:spPr>
        <p:txBody>
          <a:bodyPr anchor="b">
            <a:normAutofit/>
          </a:bodyPr>
          <a:lstStyle/>
          <a:p>
            <a:r>
              <a:rPr lang="en-US" sz="3000" dirty="0"/>
              <a:t>Logistic Regression</a:t>
            </a:r>
          </a:p>
        </p:txBody>
      </p:sp>
      <p:sp>
        <p:nvSpPr>
          <p:cNvPr id="28" name="Rectangle 27">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77773" y="456519"/>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9" name="Rectangle 28">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8610" y="2285541"/>
            <a:ext cx="32918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idx="1"/>
          </p:nvPr>
        </p:nvSpPr>
        <p:spPr>
          <a:xfrm>
            <a:off x="308610" y="2684095"/>
            <a:ext cx="3332365" cy="3492868"/>
          </a:xfrm>
        </p:spPr>
        <p:txBody>
          <a:bodyPr>
            <a:normAutofit/>
          </a:bodyPr>
          <a:lstStyle/>
          <a:p>
            <a:r>
              <a:rPr lang="en-US" sz="1600" dirty="0"/>
              <a:t>The depicted histogram represents predictions for loan approval status (Class 1).</a:t>
            </a:r>
          </a:p>
          <a:p>
            <a:r>
              <a:rPr lang="en-US" sz="1600" dirty="0"/>
              <a:t>The model predictions show intense concentration across the 0 value because it demonstrates solid confidence in rejecting most applications.</a:t>
            </a:r>
          </a:p>
          <a:p>
            <a:r>
              <a:rPr lang="en-US" sz="1600" dirty="0"/>
              <a:t>The existing class distribution has fewer approved applications predicted along with high approval probability indication.</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p:txBody>
      </p:sp>
      <p:pic>
        <p:nvPicPr>
          <p:cNvPr id="5" name="Picture 4">
            <a:extLst>
              <a:ext uri="{FF2B5EF4-FFF2-40B4-BE49-F238E27FC236}">
                <a16:creationId xmlns:a16="http://schemas.microsoft.com/office/drawing/2014/main" id="{886EE199-BC0D-F8DA-26EA-03BFDEC3F3F4}"/>
              </a:ext>
            </a:extLst>
          </p:cNvPr>
          <p:cNvPicPr>
            <a:picLocks noChangeAspect="1"/>
          </p:cNvPicPr>
          <p:nvPr/>
        </p:nvPicPr>
        <p:blipFill>
          <a:blip r:embed="rId2"/>
          <a:stretch>
            <a:fillRect/>
          </a:stretch>
        </p:blipFill>
        <p:spPr>
          <a:xfrm>
            <a:off x="4039362" y="2006569"/>
            <a:ext cx="4830318" cy="27895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03" name="Rectangle 3102">
            <a:extLst>
              <a:ext uri="{FF2B5EF4-FFF2-40B4-BE49-F238E27FC236}">
                <a16:creationId xmlns:a16="http://schemas.microsoft.com/office/drawing/2014/main" id="{F56F5174-31D9-4DBB-AAB7-A1FD7BDB1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6129"/>
            <a:ext cx="4851603" cy="5925741"/>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3105" name="Picture 3104">
            <a:extLst>
              <a:ext uri="{FF2B5EF4-FFF2-40B4-BE49-F238E27FC236}">
                <a16:creationId xmlns:a16="http://schemas.microsoft.com/office/drawing/2014/main" id="{AE113210-7872-481A-ADE6-3A05CCAF5E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13200"/>
          <a:stretch/>
        </p:blipFill>
        <p:spPr>
          <a:xfrm>
            <a:off x="0" y="466129"/>
            <a:ext cx="9144000" cy="5925741"/>
          </a:xfrm>
          <a:prstGeom prst="rect">
            <a:avLst/>
          </a:prstGeom>
        </p:spPr>
      </p:pic>
      <p:sp>
        <p:nvSpPr>
          <p:cNvPr id="2" name="Title 1"/>
          <p:cNvSpPr>
            <a:spLocks noGrp="1"/>
          </p:cNvSpPr>
          <p:nvPr>
            <p:ph type="title"/>
          </p:nvPr>
        </p:nvSpPr>
        <p:spPr>
          <a:xfrm>
            <a:off x="4976979" y="1459467"/>
            <a:ext cx="3733482" cy="1090538"/>
          </a:xfrm>
        </p:spPr>
        <p:txBody>
          <a:bodyPr>
            <a:normAutofit/>
          </a:bodyPr>
          <a:lstStyle/>
          <a:p>
            <a:r>
              <a:rPr lang="en-US" sz="3600" dirty="0">
                <a:solidFill>
                  <a:srgbClr val="000000"/>
                </a:solidFill>
              </a:rPr>
              <a:t>Data Modeling</a:t>
            </a:r>
          </a:p>
        </p:txBody>
      </p:sp>
      <p:sp>
        <p:nvSpPr>
          <p:cNvPr id="3111" name="Freeform 62">
            <a:extLst>
              <a:ext uri="{FF2B5EF4-FFF2-40B4-BE49-F238E27FC236}">
                <a16:creationId xmlns:a16="http://schemas.microsoft.com/office/drawing/2014/main" id="{F9A95BEE-6BB1-4A28-A8E6-A34B2E42E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86286"/>
            <a:ext cx="4320692" cy="4666770"/>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3074" name="Picture 2" descr="Data concept illustration">
            <a:extLst>
              <a:ext uri="{FF2B5EF4-FFF2-40B4-BE49-F238E27FC236}">
                <a16:creationId xmlns:a16="http://schemas.microsoft.com/office/drawing/2014/main" id="{72DB4127-FA58-3371-4356-53E4171CBED0}"/>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r="4454" b="-4"/>
          <a:stretch/>
        </p:blipFill>
        <p:spPr bwMode="auto">
          <a:xfrm>
            <a:off x="20" y="1351210"/>
            <a:ext cx="4180350" cy="4375387"/>
          </a:xfrm>
          <a:custGeom>
            <a:avLst/>
            <a:gdLst/>
            <a:ahLst/>
            <a:cxnLst/>
            <a:rect l="l" t="t" r="r" b="b"/>
            <a:pathLst>
              <a:path w="4838041" h="5063738">
                <a:moveTo>
                  <a:pt x="2306172" y="0"/>
                </a:moveTo>
                <a:cubicBezTo>
                  <a:pt x="3704485" y="0"/>
                  <a:pt x="4838041" y="1133556"/>
                  <a:pt x="4838041" y="2531869"/>
                </a:cubicBezTo>
                <a:cubicBezTo>
                  <a:pt x="4838041" y="3930182"/>
                  <a:pt x="3704485" y="5063738"/>
                  <a:pt x="2306172" y="5063738"/>
                </a:cubicBezTo>
                <a:cubicBezTo>
                  <a:pt x="1344832" y="5063738"/>
                  <a:pt x="508631" y="4527956"/>
                  <a:pt x="79886" y="3738709"/>
                </a:cubicBezTo>
                <a:lnTo>
                  <a:pt x="0" y="3572876"/>
                </a:lnTo>
                <a:lnTo>
                  <a:pt x="0" y="1490863"/>
                </a:lnTo>
                <a:lnTo>
                  <a:pt x="79886" y="1325030"/>
                </a:lnTo>
                <a:cubicBezTo>
                  <a:pt x="508631" y="535783"/>
                  <a:pt x="1344832" y="0"/>
                  <a:pt x="2306172"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D8C5228C-B510-8242-ACA3-2F820B7BC038}"/>
              </a:ext>
            </a:extLst>
          </p:cNvPr>
          <p:cNvSpPr>
            <a:spLocks noGrp="1"/>
          </p:cNvSpPr>
          <p:nvPr>
            <p:ph idx="1"/>
          </p:nvPr>
        </p:nvSpPr>
        <p:spPr>
          <a:xfrm>
            <a:off x="4974330" y="2673512"/>
            <a:ext cx="3733184" cy="2729467"/>
          </a:xfrm>
        </p:spPr>
        <p:txBody>
          <a:bodyPr anchor="ctr">
            <a:noAutofit/>
          </a:bodyPr>
          <a:lstStyle/>
          <a:p>
            <a:pPr>
              <a:lnSpc>
                <a:spcPct val="90000"/>
              </a:lnSpc>
              <a:buNone/>
            </a:pPr>
            <a:r>
              <a:rPr lang="en-US" sz="1100" b="1" dirty="0">
                <a:solidFill>
                  <a:srgbClr val="000000"/>
                </a:solidFill>
              </a:rPr>
              <a:t>Modeling Approach:</a:t>
            </a:r>
            <a:br>
              <a:rPr lang="en-US" sz="1100" dirty="0">
                <a:solidFill>
                  <a:srgbClr val="000000"/>
                </a:solidFill>
              </a:rPr>
            </a:br>
            <a:r>
              <a:rPr lang="en-US" sz="1100" dirty="0">
                <a:solidFill>
                  <a:srgbClr val="000000"/>
                </a:solidFill>
              </a:rPr>
              <a:t>• Selected two supervised machine learning models:</a:t>
            </a:r>
            <a:br>
              <a:rPr lang="en-US" sz="1100" dirty="0">
                <a:solidFill>
                  <a:srgbClr val="000000"/>
                </a:solidFill>
              </a:rPr>
            </a:br>
            <a:r>
              <a:rPr lang="en-US" sz="1100" dirty="0">
                <a:solidFill>
                  <a:srgbClr val="000000"/>
                </a:solidFill>
              </a:rPr>
              <a:t>  1. Logistic Regression</a:t>
            </a:r>
            <a:br>
              <a:rPr lang="en-US" sz="1100" dirty="0">
                <a:solidFill>
                  <a:srgbClr val="000000"/>
                </a:solidFill>
              </a:rPr>
            </a:br>
            <a:r>
              <a:rPr lang="en-US" sz="1100" dirty="0">
                <a:solidFill>
                  <a:srgbClr val="000000"/>
                </a:solidFill>
              </a:rPr>
              <a:t>  2. Decision Tree Classifier</a:t>
            </a:r>
          </a:p>
          <a:p>
            <a:pPr>
              <a:lnSpc>
                <a:spcPct val="90000"/>
              </a:lnSpc>
              <a:buNone/>
            </a:pPr>
            <a:r>
              <a:rPr lang="en-US" sz="1100" b="1" dirty="0">
                <a:solidFill>
                  <a:srgbClr val="000000"/>
                </a:solidFill>
              </a:rPr>
              <a:t>Preprocessing Steps:</a:t>
            </a:r>
            <a:br>
              <a:rPr lang="en-US" sz="1100" dirty="0">
                <a:solidFill>
                  <a:srgbClr val="000000"/>
                </a:solidFill>
              </a:rPr>
            </a:br>
            <a:r>
              <a:rPr lang="en-US" sz="1100" dirty="0">
                <a:solidFill>
                  <a:srgbClr val="000000"/>
                </a:solidFill>
              </a:rPr>
              <a:t>• Removed the target column (</a:t>
            </a:r>
            <a:r>
              <a:rPr lang="en-US" sz="1100" dirty="0" err="1">
                <a:solidFill>
                  <a:srgbClr val="000000"/>
                </a:solidFill>
              </a:rPr>
              <a:t>loan_status</a:t>
            </a:r>
            <a:r>
              <a:rPr lang="en-US" sz="1100" dirty="0">
                <a:solidFill>
                  <a:srgbClr val="000000"/>
                </a:solidFill>
              </a:rPr>
              <a:t>) from feature inputs to avoid data leakage.</a:t>
            </a:r>
            <a:br>
              <a:rPr lang="en-US" sz="1100" dirty="0">
                <a:solidFill>
                  <a:srgbClr val="000000"/>
                </a:solidFill>
              </a:rPr>
            </a:br>
            <a:r>
              <a:rPr lang="en-US" sz="1100" dirty="0">
                <a:solidFill>
                  <a:srgbClr val="000000"/>
                </a:solidFill>
              </a:rPr>
              <a:t>• Encoded categorical variables using </a:t>
            </a:r>
            <a:r>
              <a:rPr lang="en-US" sz="1100" dirty="0" err="1">
                <a:solidFill>
                  <a:srgbClr val="000000"/>
                </a:solidFill>
              </a:rPr>
              <a:t>StringIndexer</a:t>
            </a:r>
            <a:r>
              <a:rPr lang="en-US" sz="1100" dirty="0">
                <a:solidFill>
                  <a:srgbClr val="000000"/>
                </a:solidFill>
              </a:rPr>
              <a:t>.</a:t>
            </a:r>
            <a:br>
              <a:rPr lang="en-US" sz="1100" dirty="0">
                <a:solidFill>
                  <a:srgbClr val="000000"/>
                </a:solidFill>
              </a:rPr>
            </a:br>
            <a:r>
              <a:rPr lang="en-US" sz="1100" dirty="0">
                <a:solidFill>
                  <a:srgbClr val="000000"/>
                </a:solidFill>
              </a:rPr>
              <a:t>• Combined features using </a:t>
            </a:r>
            <a:r>
              <a:rPr lang="en-US" sz="1100" dirty="0" err="1">
                <a:solidFill>
                  <a:srgbClr val="000000"/>
                </a:solidFill>
              </a:rPr>
              <a:t>VectorAssembler</a:t>
            </a:r>
            <a:r>
              <a:rPr lang="en-US" sz="1100" dirty="0">
                <a:solidFill>
                  <a:srgbClr val="000000"/>
                </a:solidFill>
              </a:rPr>
              <a:t>.</a:t>
            </a:r>
            <a:br>
              <a:rPr lang="en-US" sz="1100" dirty="0">
                <a:solidFill>
                  <a:srgbClr val="000000"/>
                </a:solidFill>
              </a:rPr>
            </a:br>
            <a:r>
              <a:rPr lang="en-US" sz="1100" dirty="0">
                <a:solidFill>
                  <a:srgbClr val="000000"/>
                </a:solidFill>
              </a:rPr>
              <a:t>• Ensured clean data with consistent types and no null values.</a:t>
            </a:r>
          </a:p>
          <a:p>
            <a:pPr marL="0" indent="0">
              <a:lnSpc>
                <a:spcPct val="90000"/>
              </a:lnSpc>
              <a:buNone/>
            </a:pPr>
            <a:r>
              <a:rPr lang="en-US" sz="1100" b="1" dirty="0">
                <a:solidFill>
                  <a:srgbClr val="000000"/>
                </a:solidFill>
              </a:rPr>
              <a:t>Pipeline Setup:</a:t>
            </a:r>
            <a:br>
              <a:rPr lang="en-US" sz="1100" dirty="0">
                <a:solidFill>
                  <a:srgbClr val="000000"/>
                </a:solidFill>
              </a:rPr>
            </a:br>
            <a:r>
              <a:rPr lang="en-US" sz="1100" dirty="0">
                <a:solidFill>
                  <a:srgbClr val="000000"/>
                </a:solidFill>
              </a:rPr>
              <a:t>• Used PySpark to build pipelines that integrate preprocessing and model training steps.</a:t>
            </a:r>
            <a:br>
              <a:rPr lang="en-US" sz="1100" dirty="0">
                <a:solidFill>
                  <a:srgbClr val="000000"/>
                </a:solidFill>
              </a:rPr>
            </a:br>
            <a:r>
              <a:rPr lang="en-US" sz="1100" dirty="0">
                <a:solidFill>
                  <a:srgbClr val="000000"/>
                </a:solidFill>
              </a:rPr>
              <a:t>• Split the dataset into training and testing sets using an 80/20 ratio.</a:t>
            </a:r>
            <a:br>
              <a:rPr lang="en-US" sz="1100" dirty="0">
                <a:solidFill>
                  <a:srgbClr val="000000"/>
                </a:solidFill>
              </a:rPr>
            </a:br>
            <a:r>
              <a:rPr lang="en-US" sz="1100" dirty="0">
                <a:solidFill>
                  <a:srgbClr val="000000"/>
                </a:solidFill>
              </a:rPr>
              <a:t>• Evaluated performance using accuracy and coefficient interpretation.</a:t>
            </a:r>
          </a:p>
          <a:p>
            <a:pPr marL="0" indent="0">
              <a:lnSpc>
                <a:spcPct val="90000"/>
              </a:lnSpc>
              <a:buNone/>
            </a:pPr>
            <a:endParaRPr lang="en-US" sz="1100" dirty="0">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909C-8DDC-9047-5ACF-DDC93A0BF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6FF18E-26D3-2132-8274-202770CB6529}"/>
              </a:ext>
            </a:extLst>
          </p:cNvPr>
          <p:cNvSpPr>
            <a:spLocks noGrp="1"/>
          </p:cNvSpPr>
          <p:nvPr>
            <p:ph type="title"/>
          </p:nvPr>
        </p:nvSpPr>
        <p:spPr>
          <a:xfrm>
            <a:off x="457200" y="348779"/>
            <a:ext cx="8229600" cy="1143000"/>
          </a:xfrm>
        </p:spPr>
        <p:txBody>
          <a:bodyPr/>
          <a:lstStyle/>
          <a:p>
            <a:r>
              <a:rPr lang="en-US" dirty="0"/>
              <a:t>Key Visualization</a:t>
            </a:r>
          </a:p>
        </p:txBody>
      </p:sp>
      <p:pic>
        <p:nvPicPr>
          <p:cNvPr id="4" name="Content Placeholder 3">
            <a:extLst>
              <a:ext uri="{FF2B5EF4-FFF2-40B4-BE49-F238E27FC236}">
                <a16:creationId xmlns:a16="http://schemas.microsoft.com/office/drawing/2014/main" id="{C6342375-5550-B1DF-BFFA-FD5E3C792374}"/>
              </a:ext>
            </a:extLst>
          </p:cNvPr>
          <p:cNvPicPr>
            <a:picLocks noGrp="1" noChangeAspect="1"/>
          </p:cNvPicPr>
          <p:nvPr>
            <p:ph idx="1"/>
          </p:nvPr>
        </p:nvPicPr>
        <p:blipFill>
          <a:blip r:embed="rId2"/>
          <a:stretch>
            <a:fillRect/>
          </a:stretch>
        </p:blipFill>
        <p:spPr>
          <a:xfrm>
            <a:off x="466769" y="3429000"/>
            <a:ext cx="4105231" cy="2986946"/>
          </a:xfrm>
          <a:prstGeom prst="rect">
            <a:avLst/>
          </a:prstGeom>
        </p:spPr>
      </p:pic>
      <p:pic>
        <p:nvPicPr>
          <p:cNvPr id="6" name="Picture 5">
            <a:extLst>
              <a:ext uri="{FF2B5EF4-FFF2-40B4-BE49-F238E27FC236}">
                <a16:creationId xmlns:a16="http://schemas.microsoft.com/office/drawing/2014/main" id="{C4D7999D-E067-4367-4895-5D80099A95BD}"/>
              </a:ext>
            </a:extLst>
          </p:cNvPr>
          <p:cNvPicPr>
            <a:picLocks noChangeAspect="1"/>
          </p:cNvPicPr>
          <p:nvPr/>
        </p:nvPicPr>
        <p:blipFill>
          <a:blip r:embed="rId3"/>
          <a:stretch>
            <a:fillRect/>
          </a:stretch>
        </p:blipFill>
        <p:spPr>
          <a:xfrm>
            <a:off x="4853415" y="3429000"/>
            <a:ext cx="3833385" cy="3158546"/>
          </a:xfrm>
          <a:prstGeom prst="rect">
            <a:avLst/>
          </a:prstGeom>
        </p:spPr>
      </p:pic>
      <p:sp>
        <p:nvSpPr>
          <p:cNvPr id="7" name="TextBox 6">
            <a:extLst>
              <a:ext uri="{FF2B5EF4-FFF2-40B4-BE49-F238E27FC236}">
                <a16:creationId xmlns:a16="http://schemas.microsoft.com/office/drawing/2014/main" id="{236CAA98-B347-A586-4D91-925224D85D28}"/>
              </a:ext>
            </a:extLst>
          </p:cNvPr>
          <p:cNvSpPr txBox="1"/>
          <p:nvPr/>
        </p:nvSpPr>
        <p:spPr>
          <a:xfrm>
            <a:off x="778476" y="1366253"/>
            <a:ext cx="3290260" cy="369332"/>
          </a:xfrm>
          <a:prstGeom prst="rect">
            <a:avLst/>
          </a:prstGeom>
          <a:noFill/>
        </p:spPr>
        <p:txBody>
          <a:bodyPr wrap="none" rtlCol="0">
            <a:spAutoFit/>
          </a:bodyPr>
          <a:lstStyle/>
          <a:p>
            <a:r>
              <a:rPr lang="en-US" b="1" dirty="0"/>
              <a:t>Loan Approval Count(Bar Chart):</a:t>
            </a:r>
          </a:p>
        </p:txBody>
      </p:sp>
      <p:sp>
        <p:nvSpPr>
          <p:cNvPr id="8" name="TextBox 7">
            <a:extLst>
              <a:ext uri="{FF2B5EF4-FFF2-40B4-BE49-F238E27FC236}">
                <a16:creationId xmlns:a16="http://schemas.microsoft.com/office/drawing/2014/main" id="{62EB027A-1A41-A8EE-E3EF-92F398A48CDF}"/>
              </a:ext>
            </a:extLst>
          </p:cNvPr>
          <p:cNvSpPr txBox="1"/>
          <p:nvPr/>
        </p:nvSpPr>
        <p:spPr>
          <a:xfrm>
            <a:off x="197709" y="1814058"/>
            <a:ext cx="4275437" cy="1477328"/>
          </a:xfrm>
          <a:prstGeom prst="rect">
            <a:avLst/>
          </a:prstGeom>
          <a:noFill/>
        </p:spPr>
        <p:txBody>
          <a:bodyPr wrap="square" rtlCol="0">
            <a:spAutoFit/>
          </a:bodyPr>
          <a:lstStyle/>
          <a:p>
            <a:r>
              <a:rPr lang="en-US" b="0" i="0" dirty="0">
                <a:solidFill>
                  <a:srgbClr val="000000"/>
                </a:solidFill>
                <a:effectLst/>
              </a:rPr>
              <a:t>The presented bar chart depicts how many loan applicants received funding approval or faced rejection status. The number of denied applications significantly surpasses those that receive approval.</a:t>
            </a:r>
            <a:endParaRPr lang="en-US" dirty="0"/>
          </a:p>
        </p:txBody>
      </p:sp>
      <p:sp>
        <p:nvSpPr>
          <p:cNvPr id="9" name="TextBox 8">
            <a:extLst>
              <a:ext uri="{FF2B5EF4-FFF2-40B4-BE49-F238E27FC236}">
                <a16:creationId xmlns:a16="http://schemas.microsoft.com/office/drawing/2014/main" id="{3D3B2301-BA92-96F2-49C9-2A967BF5E37C}"/>
              </a:ext>
            </a:extLst>
          </p:cNvPr>
          <p:cNvSpPr txBox="1"/>
          <p:nvPr/>
        </p:nvSpPr>
        <p:spPr>
          <a:xfrm>
            <a:off x="5053913" y="1429016"/>
            <a:ext cx="3985450" cy="369332"/>
          </a:xfrm>
          <a:prstGeom prst="rect">
            <a:avLst/>
          </a:prstGeom>
          <a:noFill/>
        </p:spPr>
        <p:txBody>
          <a:bodyPr wrap="none" rtlCol="0">
            <a:spAutoFit/>
          </a:bodyPr>
          <a:lstStyle/>
          <a:p>
            <a:r>
              <a:rPr lang="en-US" b="1" dirty="0"/>
              <a:t>Correlation with Loan Status(Heatmap):</a:t>
            </a:r>
          </a:p>
        </p:txBody>
      </p:sp>
      <p:sp>
        <p:nvSpPr>
          <p:cNvPr id="10" name="TextBox 9">
            <a:extLst>
              <a:ext uri="{FF2B5EF4-FFF2-40B4-BE49-F238E27FC236}">
                <a16:creationId xmlns:a16="http://schemas.microsoft.com/office/drawing/2014/main" id="{38AB4F67-3C33-5663-E4A7-D29AE2B2EDF4}"/>
              </a:ext>
            </a:extLst>
          </p:cNvPr>
          <p:cNvSpPr txBox="1"/>
          <p:nvPr/>
        </p:nvSpPr>
        <p:spPr>
          <a:xfrm>
            <a:off x="5112905" y="1782163"/>
            <a:ext cx="3833386" cy="1754326"/>
          </a:xfrm>
          <a:prstGeom prst="rect">
            <a:avLst/>
          </a:prstGeom>
          <a:noFill/>
        </p:spPr>
        <p:txBody>
          <a:bodyPr wrap="square" rtlCol="0">
            <a:spAutoFit/>
          </a:bodyPr>
          <a:lstStyle/>
          <a:p>
            <a:r>
              <a:rPr lang="en-US" b="0" i="0" dirty="0">
                <a:solidFill>
                  <a:srgbClr val="000000"/>
                </a:solidFill>
                <a:effectLst/>
              </a:rPr>
              <a:t>The heatmap depicts the relationship strengths between features and the approval outcome. The factors of loan percent income and loan grade demonstrate the strongest positive relationship to approval outcomes.</a:t>
            </a:r>
            <a:endParaRPr lang="en-US" dirty="0"/>
          </a:p>
        </p:txBody>
      </p:sp>
    </p:spTree>
    <p:extLst>
      <p:ext uri="{BB962C8B-B14F-4D97-AF65-F5344CB8AC3E}">
        <p14:creationId xmlns:p14="http://schemas.microsoft.com/office/powerpoint/2010/main" val="1495903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C3B18-2E16-FEFF-AAED-3CF935B3A034}"/>
              </a:ext>
            </a:extLst>
          </p:cNvPr>
          <p:cNvSpPr>
            <a:spLocks noGrp="1"/>
          </p:cNvSpPr>
          <p:nvPr>
            <p:ph type="title"/>
          </p:nvPr>
        </p:nvSpPr>
        <p:spPr/>
        <p:txBody>
          <a:bodyPr/>
          <a:lstStyle/>
          <a:p>
            <a:r>
              <a:rPr lang="en-US" dirty="0"/>
              <a:t>Key Visualizations</a:t>
            </a:r>
          </a:p>
        </p:txBody>
      </p:sp>
      <p:pic>
        <p:nvPicPr>
          <p:cNvPr id="4" name="Content Placeholder 3">
            <a:extLst>
              <a:ext uri="{FF2B5EF4-FFF2-40B4-BE49-F238E27FC236}">
                <a16:creationId xmlns:a16="http://schemas.microsoft.com/office/drawing/2014/main" id="{0C817973-CE43-C3D3-D04E-10E901AA855A}"/>
              </a:ext>
            </a:extLst>
          </p:cNvPr>
          <p:cNvPicPr>
            <a:picLocks noGrp="1" noChangeAspect="1"/>
          </p:cNvPicPr>
          <p:nvPr>
            <p:ph idx="1"/>
          </p:nvPr>
        </p:nvPicPr>
        <p:blipFill>
          <a:blip r:embed="rId2"/>
          <a:stretch>
            <a:fillRect/>
          </a:stretch>
        </p:blipFill>
        <p:spPr>
          <a:xfrm>
            <a:off x="4485502" y="3561099"/>
            <a:ext cx="4541229" cy="3218934"/>
          </a:xfrm>
          <a:prstGeom prst="rect">
            <a:avLst/>
          </a:prstGeom>
        </p:spPr>
      </p:pic>
      <p:sp>
        <p:nvSpPr>
          <p:cNvPr id="5" name="TextBox 4">
            <a:extLst>
              <a:ext uri="{FF2B5EF4-FFF2-40B4-BE49-F238E27FC236}">
                <a16:creationId xmlns:a16="http://schemas.microsoft.com/office/drawing/2014/main" id="{2B69A7FF-AC80-6407-1EAA-0610CBD938FB}"/>
              </a:ext>
            </a:extLst>
          </p:cNvPr>
          <p:cNvSpPr txBox="1"/>
          <p:nvPr/>
        </p:nvSpPr>
        <p:spPr>
          <a:xfrm>
            <a:off x="4996023" y="1809126"/>
            <a:ext cx="4261938" cy="5047536"/>
          </a:xfrm>
          <a:prstGeom prst="rect">
            <a:avLst/>
          </a:prstGeom>
          <a:noFill/>
        </p:spPr>
        <p:txBody>
          <a:bodyPr wrap="square" rtlCol="0">
            <a:spAutoFit/>
          </a:bodyPr>
          <a:lstStyle/>
          <a:p>
            <a:r>
              <a:rPr lang="en-US" sz="1600" dirty="0"/>
              <a:t>The visual presentation begins by displaying applicant clustering that results from combining income and loan amount indicators. The dots receive color treatment which represents the loan prediction status:</a:t>
            </a:r>
          </a:p>
          <a:p>
            <a:r>
              <a:rPr lang="en-US" sz="1600" dirty="0"/>
              <a:t>Red (0.0) = Loan Rejected</a:t>
            </a:r>
          </a:p>
          <a:p>
            <a:r>
              <a:rPr lang="en-US" sz="1600" dirty="0"/>
              <a:t>Blue (1.0) = Loan Approved</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p:txBody>
      </p:sp>
      <p:sp>
        <p:nvSpPr>
          <p:cNvPr id="6" name="TextBox 5">
            <a:extLst>
              <a:ext uri="{FF2B5EF4-FFF2-40B4-BE49-F238E27FC236}">
                <a16:creationId xmlns:a16="http://schemas.microsoft.com/office/drawing/2014/main" id="{89142B65-6D5B-5498-FB45-72F9FD174B66}"/>
              </a:ext>
            </a:extLst>
          </p:cNvPr>
          <p:cNvSpPr txBox="1"/>
          <p:nvPr/>
        </p:nvSpPr>
        <p:spPr>
          <a:xfrm>
            <a:off x="625159" y="1542575"/>
            <a:ext cx="1350691" cy="369332"/>
          </a:xfrm>
          <a:prstGeom prst="rect">
            <a:avLst/>
          </a:prstGeom>
          <a:noFill/>
        </p:spPr>
        <p:txBody>
          <a:bodyPr wrap="none" rtlCol="0">
            <a:spAutoFit/>
          </a:bodyPr>
          <a:lstStyle/>
          <a:p>
            <a:r>
              <a:rPr lang="en-US" b="1" dirty="0"/>
              <a:t>Scatter Plot</a:t>
            </a:r>
            <a:r>
              <a:rPr lang="en-US" dirty="0"/>
              <a:t>:</a:t>
            </a:r>
          </a:p>
        </p:txBody>
      </p:sp>
      <p:sp>
        <p:nvSpPr>
          <p:cNvPr id="7" name="TextBox 6">
            <a:extLst>
              <a:ext uri="{FF2B5EF4-FFF2-40B4-BE49-F238E27FC236}">
                <a16:creationId xmlns:a16="http://schemas.microsoft.com/office/drawing/2014/main" id="{07565782-5644-8BC0-7F66-536B8EA2AC08}"/>
              </a:ext>
            </a:extLst>
          </p:cNvPr>
          <p:cNvSpPr txBox="1"/>
          <p:nvPr/>
        </p:nvSpPr>
        <p:spPr>
          <a:xfrm>
            <a:off x="4996023" y="1542575"/>
            <a:ext cx="1898148" cy="369332"/>
          </a:xfrm>
          <a:prstGeom prst="rect">
            <a:avLst/>
          </a:prstGeom>
          <a:noFill/>
        </p:spPr>
        <p:txBody>
          <a:bodyPr wrap="none" rtlCol="0">
            <a:spAutoFit/>
          </a:bodyPr>
          <a:lstStyle/>
          <a:p>
            <a:r>
              <a:rPr lang="en-US" b="1" dirty="0"/>
              <a:t>Confusion Matrix:</a:t>
            </a:r>
          </a:p>
        </p:txBody>
      </p:sp>
      <p:sp>
        <p:nvSpPr>
          <p:cNvPr id="8" name="TextBox 7">
            <a:extLst>
              <a:ext uri="{FF2B5EF4-FFF2-40B4-BE49-F238E27FC236}">
                <a16:creationId xmlns:a16="http://schemas.microsoft.com/office/drawing/2014/main" id="{11BBADFF-D2F6-9F93-6568-DE0D26A331E5}"/>
              </a:ext>
            </a:extLst>
          </p:cNvPr>
          <p:cNvSpPr txBox="1"/>
          <p:nvPr/>
        </p:nvSpPr>
        <p:spPr>
          <a:xfrm>
            <a:off x="625159" y="1806773"/>
            <a:ext cx="4370864" cy="4801314"/>
          </a:xfrm>
          <a:prstGeom prst="rect">
            <a:avLst/>
          </a:prstGeom>
          <a:noFill/>
        </p:spPr>
        <p:txBody>
          <a:bodyPr wrap="square" rtlCol="0">
            <a:spAutoFit/>
          </a:bodyPr>
          <a:lstStyle/>
          <a:p>
            <a:r>
              <a:rPr lang="en-US" dirty="0"/>
              <a:t>The model correctly identified 7,372 rejected loans and 683 approved loans in the confusion matrix. The system recorded two types of errors where it incorrectly categorized 1,326 approved loans as rejected and 311 rejected loans as approved.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10" name="Picture 9">
            <a:extLst>
              <a:ext uri="{FF2B5EF4-FFF2-40B4-BE49-F238E27FC236}">
                <a16:creationId xmlns:a16="http://schemas.microsoft.com/office/drawing/2014/main" id="{0A194305-FC45-4239-9921-B0BE276EA0A6}"/>
              </a:ext>
            </a:extLst>
          </p:cNvPr>
          <p:cNvPicPr>
            <a:picLocks noChangeAspect="1"/>
          </p:cNvPicPr>
          <p:nvPr/>
        </p:nvPicPr>
        <p:blipFill>
          <a:blip r:embed="rId3"/>
          <a:stretch>
            <a:fillRect/>
          </a:stretch>
        </p:blipFill>
        <p:spPr>
          <a:xfrm>
            <a:off x="222879" y="3503384"/>
            <a:ext cx="4258054" cy="3354616"/>
          </a:xfrm>
          <a:prstGeom prst="rect">
            <a:avLst/>
          </a:prstGeom>
        </p:spPr>
      </p:pic>
    </p:spTree>
    <p:extLst>
      <p:ext uri="{BB962C8B-B14F-4D97-AF65-F5344CB8AC3E}">
        <p14:creationId xmlns:p14="http://schemas.microsoft.com/office/powerpoint/2010/main" val="2503309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36" name="Rectangle 413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138" name="Arc 413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4421221" y="479493"/>
            <a:ext cx="4094129" cy="1325563"/>
          </a:xfrm>
        </p:spPr>
        <p:txBody>
          <a:bodyPr>
            <a:normAutofit/>
          </a:bodyPr>
          <a:lstStyle/>
          <a:p>
            <a:r>
              <a:rPr lang="en-US" dirty="0"/>
              <a:t>Findings</a:t>
            </a:r>
            <a:endParaRPr dirty="0"/>
          </a:p>
        </p:txBody>
      </p:sp>
      <p:sp>
        <p:nvSpPr>
          <p:cNvPr id="4140" name="Freeform: Shape 413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100" name="Picture 4" descr="Marketers with magnifier research marketing opportunities chart. Marketing research, marketing analysis, market opportunities and problems concept illustration">
            <a:extLst>
              <a:ext uri="{FF2B5EF4-FFF2-40B4-BE49-F238E27FC236}">
                <a16:creationId xmlns:a16="http://schemas.microsoft.com/office/drawing/2014/main" id="{533CB482-5DB4-9BB7-1AAB-886B2A09090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7386" y="2152769"/>
            <a:ext cx="3583036" cy="238271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graphicFrame>
        <p:nvGraphicFramePr>
          <p:cNvPr id="4131" name="Content Placeholder 2">
            <a:extLst>
              <a:ext uri="{FF2B5EF4-FFF2-40B4-BE49-F238E27FC236}">
                <a16:creationId xmlns:a16="http://schemas.microsoft.com/office/drawing/2014/main" id="{6539C3B2-8708-C500-53C1-FC70E9AC8568}"/>
              </a:ext>
            </a:extLst>
          </p:cNvPr>
          <p:cNvGraphicFramePr>
            <a:graphicFrameLocks noGrp="1"/>
          </p:cNvGraphicFramePr>
          <p:nvPr>
            <p:ph idx="1"/>
            <p:extLst>
              <p:ext uri="{D42A27DB-BD31-4B8C-83A1-F6EECF244321}">
                <p14:modId xmlns:p14="http://schemas.microsoft.com/office/powerpoint/2010/main" val="1017438479"/>
              </p:ext>
            </p:extLst>
          </p:nvPr>
        </p:nvGraphicFramePr>
        <p:xfrm>
          <a:off x="4421221" y="1984443"/>
          <a:ext cx="4094129" cy="4192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40" name="Rectangle 5139">
            <a:extLst>
              <a:ext uri="{FF2B5EF4-FFF2-40B4-BE49-F238E27FC236}">
                <a16:creationId xmlns:a16="http://schemas.microsoft.com/office/drawing/2014/main" id="{95199994-21AE-49A2-BA0D-12E295989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p:cNvSpPr>
            <a:spLocks noGrp="1"/>
          </p:cNvSpPr>
          <p:nvPr>
            <p:ph type="title"/>
          </p:nvPr>
        </p:nvSpPr>
        <p:spPr>
          <a:xfrm>
            <a:off x="5077177" y="530578"/>
            <a:ext cx="3578384" cy="1160110"/>
          </a:xfrm>
        </p:spPr>
        <p:txBody>
          <a:bodyPr>
            <a:normAutofit/>
          </a:bodyPr>
          <a:lstStyle/>
          <a:p>
            <a:pPr>
              <a:lnSpc>
                <a:spcPct val="90000"/>
              </a:lnSpc>
            </a:pPr>
            <a:r>
              <a:rPr lang="en-US" sz="3700" dirty="0"/>
              <a:t>Business Implications</a:t>
            </a:r>
          </a:p>
        </p:txBody>
      </p:sp>
      <p:pic>
        <p:nvPicPr>
          <p:cNvPr id="5124" name="Picture 4" descr="Business decisions concept illustration">
            <a:extLst>
              <a:ext uri="{FF2B5EF4-FFF2-40B4-BE49-F238E27FC236}">
                <a16:creationId xmlns:a16="http://schemas.microsoft.com/office/drawing/2014/main" id="{AFAB7A26-E12F-A1FB-FA1C-2FD9C467907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28649" y="1332482"/>
            <a:ext cx="4080146" cy="4080146"/>
          </a:xfrm>
          <a:custGeom>
            <a:avLst/>
            <a:gdLst/>
            <a:ahLst/>
            <a:cxnLst/>
            <a:rect l="l" t="t" r="r" b="b"/>
            <a:pathLst>
              <a:path w="4643496" h="555037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a:noFill/>
          <a:extLst>
            <a:ext uri="{909E8E84-426E-40DD-AFC4-6F175D3DCCD1}">
              <a14:hiddenFill xmlns:a14="http://schemas.microsoft.com/office/drawing/2010/main">
                <a:solidFill>
                  <a:srgbClr val="FFFFFF"/>
                </a:solidFill>
              </a14:hiddenFill>
            </a:ext>
          </a:extLst>
        </p:spPr>
      </p:pic>
      <p:sp>
        <p:nvSpPr>
          <p:cNvPr id="5141" name="Arc 5140">
            <a:extLst>
              <a:ext uri="{FF2B5EF4-FFF2-40B4-BE49-F238E27FC236}">
                <a16:creationId xmlns:a16="http://schemas.microsoft.com/office/drawing/2014/main" id="{A2C34835-4F79-4934-B151-D68E79764C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6164896" y="3712762"/>
            <a:ext cx="2987899" cy="2240924"/>
          </a:xfrm>
          <a:prstGeom prst="arc">
            <a:avLst>
              <a:gd name="adj1" fmla="val 14441841"/>
              <a:gd name="adj2" fmla="val 0"/>
            </a:avLst>
          </a:prstGeom>
          <a:ln w="127000" cap="rnd">
            <a:solidFill>
              <a:schemeClr val="accent4">
                <a:alpha val="95000"/>
              </a:schemeClr>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5077177" y="1825625"/>
            <a:ext cx="3578384" cy="4388908"/>
          </a:xfrm>
        </p:spPr>
        <p:txBody>
          <a:bodyPr>
            <a:normAutofit fontScale="25000" lnSpcReduction="20000"/>
          </a:bodyPr>
          <a:lstStyle/>
          <a:p>
            <a:pPr marL="0" indent="0">
              <a:lnSpc>
                <a:spcPct val="90000"/>
              </a:lnSpc>
              <a:buNone/>
            </a:pPr>
            <a:r>
              <a:rPr lang="en-US" sz="4400" b="1" dirty="0"/>
              <a:t>Faster Loan Approvals</a:t>
            </a:r>
            <a:r>
              <a:rPr lang="en-US" sz="4400" dirty="0"/>
              <a:t>:</a:t>
            </a:r>
            <a:br>
              <a:rPr lang="en-US" sz="4400" dirty="0"/>
            </a:br>
            <a:r>
              <a:rPr lang="en-US" sz="4400" dirty="0"/>
              <a:t>Automated loan approval processes become faster through the implementation of Decision Trees and Logistic Regression as decision-making tools and scoring models.</a:t>
            </a:r>
          </a:p>
          <a:p>
            <a:pPr marL="0" indent="0">
              <a:lnSpc>
                <a:spcPct val="90000"/>
              </a:lnSpc>
              <a:buNone/>
            </a:pPr>
            <a:endParaRPr lang="en-US" sz="4400" dirty="0"/>
          </a:p>
          <a:p>
            <a:pPr marL="0" indent="0">
              <a:lnSpc>
                <a:spcPct val="90000"/>
              </a:lnSpc>
              <a:buNone/>
            </a:pPr>
            <a:r>
              <a:rPr lang="en-US" sz="4400" b="1" dirty="0"/>
              <a:t>Better Risk Management</a:t>
            </a:r>
            <a:r>
              <a:rPr lang="en-US" sz="4400" dirty="0"/>
              <a:t>:</a:t>
            </a:r>
          </a:p>
          <a:p>
            <a:pPr marL="0" indent="0">
              <a:lnSpc>
                <a:spcPct val="90000"/>
              </a:lnSpc>
              <a:buNone/>
            </a:pPr>
            <a:br>
              <a:rPr lang="en-US" sz="4400" dirty="0"/>
            </a:br>
            <a:r>
              <a:rPr lang="en-US" sz="4400" dirty="0"/>
              <a:t> Financial institutions lower their approval of high-risk applicants when they concentrate on key predictors such as loan grade combined with income ratio for better risk management.</a:t>
            </a:r>
          </a:p>
          <a:p>
            <a:pPr marL="0" indent="0">
              <a:lnSpc>
                <a:spcPct val="90000"/>
              </a:lnSpc>
              <a:buNone/>
            </a:pPr>
            <a:endParaRPr lang="en-US" sz="1000" dirty="0"/>
          </a:p>
          <a:p>
            <a:pPr marL="0" indent="0">
              <a:lnSpc>
                <a:spcPct val="90000"/>
              </a:lnSpc>
              <a:buNone/>
            </a:pPr>
            <a:endParaRPr lang="en-US" sz="1000" dirty="0"/>
          </a:p>
          <a:p>
            <a:pPr marL="0" indent="0">
              <a:lnSpc>
                <a:spcPct val="90000"/>
              </a:lnSpc>
              <a:buNone/>
            </a:pPr>
            <a:r>
              <a:rPr lang="en-US" sz="4400" b="1" dirty="0"/>
              <a:t>Personalized Customer Strategies</a:t>
            </a:r>
            <a:r>
              <a:rPr lang="en-US" sz="4400" dirty="0"/>
              <a:t>:</a:t>
            </a:r>
            <a:br>
              <a:rPr lang="en-US" sz="4400" dirty="0"/>
            </a:br>
            <a:br>
              <a:rPr lang="en-US" sz="4400" dirty="0"/>
            </a:br>
            <a:r>
              <a:rPr lang="en-US" sz="4400" dirty="0"/>
              <a:t> Banks deploy individualized customer approaches        through their understanding of applicant characteristics  that lead to loan approval</a:t>
            </a:r>
            <a:br>
              <a:rPr lang="en-US" sz="4400" dirty="0"/>
            </a:br>
            <a:br>
              <a:rPr lang="en-US" sz="3400" dirty="0"/>
            </a:br>
            <a:r>
              <a:rPr lang="en-US" sz="3400" dirty="0"/>
              <a:t>  </a:t>
            </a:r>
            <a:r>
              <a:rPr lang="en-US" sz="4400" b="1" dirty="0"/>
              <a:t>Transparency and Fairness</a:t>
            </a:r>
            <a:r>
              <a:rPr lang="en-US" sz="4400" dirty="0"/>
              <a:t>:</a:t>
            </a:r>
          </a:p>
          <a:p>
            <a:pPr marL="0" indent="0">
              <a:lnSpc>
                <a:spcPct val="90000"/>
              </a:lnSpc>
              <a:buNone/>
            </a:pPr>
            <a:r>
              <a:rPr lang="en-US" sz="4400" dirty="0"/>
              <a:t>Decision Tree and Logistic Regression models provide transparent and fair prediction methods which enhance trust because they deliver understandable explanations to customers as well as regulatory bodies.</a:t>
            </a:r>
          </a:p>
          <a:p>
            <a:pPr>
              <a:lnSpc>
                <a:spcPct val="90000"/>
              </a:lnSpc>
            </a:pPr>
            <a:endParaRPr lang="en-US" sz="1000" dirty="0"/>
          </a:p>
          <a:p>
            <a:pPr>
              <a:lnSpc>
                <a:spcPct val="90000"/>
              </a:lnSpc>
            </a:pPr>
            <a:endParaRPr lang="en-US" sz="1000" dirty="0"/>
          </a:p>
          <a:p>
            <a:pPr marL="0" indent="0">
              <a:lnSpc>
                <a:spcPct val="90000"/>
              </a:lnSpc>
              <a:buNone/>
            </a:pPr>
            <a:r>
              <a:rPr lang="en-US" sz="4400" b="1" dirty="0"/>
              <a:t>  Ongoing Model Monitoring</a:t>
            </a:r>
            <a:r>
              <a:rPr lang="en-US" sz="4400" dirty="0"/>
              <a:t>:</a:t>
            </a:r>
            <a:br>
              <a:rPr lang="en-US" sz="4400" dirty="0"/>
            </a:br>
            <a:endParaRPr lang="en-US" sz="4400" dirty="0"/>
          </a:p>
          <a:p>
            <a:pPr marL="0" indent="0">
              <a:lnSpc>
                <a:spcPct val="90000"/>
              </a:lnSpc>
              <a:buNone/>
            </a:pPr>
            <a:r>
              <a:rPr lang="en-US" sz="4400" dirty="0"/>
              <a:t>The evaluation process must continue throughout time because market shifts and applicant conduct modifications affect model precision.</a:t>
            </a:r>
          </a:p>
          <a:p>
            <a:pPr>
              <a:lnSpc>
                <a:spcPct val="90000"/>
              </a:lnSpc>
            </a:pPr>
            <a:endParaRPr lang="en-US" sz="44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a:p>
            <a:pPr>
              <a:lnSpc>
                <a:spcPct val="90000"/>
              </a:lnSpc>
            </a:pP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52322" y="839286"/>
            <a:ext cx="5605629" cy="994172"/>
          </a:xfrm>
        </p:spPr>
        <p:txBody>
          <a:bodyPr>
            <a:normAutofit/>
          </a:bodyPr>
          <a:lstStyle/>
          <a:p>
            <a:r>
              <a:rPr lang="en-US"/>
              <a:t>Conclusion</a:t>
            </a:r>
            <a:endParaRPr lang="en-US" dirty="0"/>
          </a:p>
        </p:txBody>
      </p:sp>
      <p:graphicFrame>
        <p:nvGraphicFramePr>
          <p:cNvPr id="6155" name="Content Placeholder 2">
            <a:extLst>
              <a:ext uri="{FF2B5EF4-FFF2-40B4-BE49-F238E27FC236}">
                <a16:creationId xmlns:a16="http://schemas.microsoft.com/office/drawing/2014/main" id="{F512E1B5-E400-BFBD-AE94-E74384D17569}"/>
              </a:ext>
            </a:extLst>
          </p:cNvPr>
          <p:cNvGraphicFramePr>
            <a:graphicFrameLocks noGrp="1"/>
          </p:cNvGraphicFramePr>
          <p:nvPr>
            <p:ph idx="1"/>
            <p:extLst>
              <p:ext uri="{D42A27DB-BD31-4B8C-83A1-F6EECF244321}">
                <p14:modId xmlns:p14="http://schemas.microsoft.com/office/powerpoint/2010/main" val="1645371913"/>
              </p:ext>
            </p:extLst>
          </p:nvPr>
        </p:nvGraphicFramePr>
        <p:xfrm>
          <a:off x="852321" y="2147568"/>
          <a:ext cx="5508485" cy="33515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181" name="Rectangle 6180">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6660" y="0"/>
            <a:ext cx="1577340" cy="6858000"/>
          </a:xfrm>
          <a:prstGeom prst="rect">
            <a:avLst/>
          </a:prstGeom>
          <a:solidFill>
            <a:srgbClr val="6359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182" name="Oval 618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7138" y="2357641"/>
            <a:ext cx="2167815" cy="2167815"/>
          </a:xfrm>
          <a:prstGeom prst="ellipse">
            <a:avLst/>
          </a:prstGeom>
          <a:solidFill>
            <a:srgbClr val="FFFFFF"/>
          </a:solidFill>
          <a:ln w="22225">
            <a:solidFill>
              <a:srgbClr val="F767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146" name="Picture 2" descr="Businessman writes conclusion, report concept. Paperwork, sheets in folder. Holding the clipboard and pen in hand. Finally, outcome, result. Vector illustration flat design. Isolated on background.">
            <a:extLst>
              <a:ext uri="{FF2B5EF4-FFF2-40B4-BE49-F238E27FC236}">
                <a16:creationId xmlns:a16="http://schemas.microsoft.com/office/drawing/2014/main" id="{0FE2DD56-7856-D04D-80B9-561D44DFE31A}"/>
              </a:ext>
            </a:extLst>
          </p:cNvPr>
          <p:cNvPicPr>
            <a:picLocks noChangeAspect="1" noChangeArrowheads="1"/>
          </p:cNvPicPr>
          <p:nvPr/>
        </p:nvPicPr>
        <p:blipFill>
          <a:blip r:embed="rId7">
            <a:alphaModFix/>
            <a:extLst>
              <a:ext uri="{28A0092B-C50C-407E-A947-70E740481C1C}">
                <a14:useLocalDpi xmlns:a14="http://schemas.microsoft.com/office/drawing/2010/main" val="0"/>
              </a:ext>
            </a:extLst>
          </a:blip>
          <a:srcRect t="161" r="-3" b="-3"/>
          <a:stretch/>
        </p:blipFill>
        <p:spPr bwMode="auto">
          <a:xfrm>
            <a:off x="6598028" y="2461923"/>
            <a:ext cx="1937263" cy="1934153"/>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noFill/>
          <a:effectLst>
            <a:softEdge rad="0"/>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97" name="Rectangle 7196">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199" name="Arc 7198">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6100024" y="863980"/>
            <a:ext cx="2987899" cy="2240924"/>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5336AB-271A-D704-6C81-C96B8AB39070}"/>
              </a:ext>
            </a:extLst>
          </p:cNvPr>
          <p:cNvSpPr>
            <a:spLocks noGrp="1"/>
          </p:cNvSpPr>
          <p:nvPr>
            <p:ph type="title"/>
          </p:nvPr>
        </p:nvSpPr>
        <p:spPr>
          <a:xfrm>
            <a:off x="4421221" y="479493"/>
            <a:ext cx="4094129" cy="1325563"/>
          </a:xfrm>
        </p:spPr>
        <p:txBody>
          <a:bodyPr>
            <a:normAutofit/>
          </a:bodyPr>
          <a:lstStyle/>
          <a:p>
            <a:r>
              <a:rPr lang="en-US"/>
              <a:t>Reference</a:t>
            </a:r>
          </a:p>
        </p:txBody>
      </p:sp>
      <p:sp>
        <p:nvSpPr>
          <p:cNvPr id="7201" name="Freeform: Shape 7200">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004647"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170" name="Picture 2" descr="Office workers organizing data storage and file archive on server or computer. Cartoon illustration">
            <a:extLst>
              <a:ext uri="{FF2B5EF4-FFF2-40B4-BE49-F238E27FC236}">
                <a16:creationId xmlns:a16="http://schemas.microsoft.com/office/drawing/2014/main" id="{6D2D0B52-A2AB-292B-DAF1-A2A821A4FE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789" r="21185"/>
          <a:stretch/>
        </p:blipFill>
        <p:spPr bwMode="auto">
          <a:xfrm>
            <a:off x="527386" y="962649"/>
            <a:ext cx="3583036" cy="4762958"/>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002316AC-16E9-056D-2B68-4BAA5BCC5513}"/>
              </a:ext>
            </a:extLst>
          </p:cNvPr>
          <p:cNvSpPr>
            <a:spLocks noGrp="1"/>
          </p:cNvSpPr>
          <p:nvPr>
            <p:ph idx="1"/>
          </p:nvPr>
        </p:nvSpPr>
        <p:spPr>
          <a:xfrm>
            <a:off x="4421221" y="1984443"/>
            <a:ext cx="4094129" cy="4192520"/>
          </a:xfrm>
        </p:spPr>
        <p:txBody>
          <a:bodyPr>
            <a:normAutofit lnSpcReduction="10000"/>
          </a:bodyPr>
          <a:lstStyle/>
          <a:p>
            <a:pPr>
              <a:lnSpc>
                <a:spcPct val="90000"/>
              </a:lnSpc>
            </a:pPr>
            <a:r>
              <a:rPr lang="en-US" sz="1500" b="1" dirty="0"/>
              <a:t>Kaggle – Credit Risk Dataset</a:t>
            </a:r>
            <a:br>
              <a:rPr lang="en-US" sz="1500" b="1" dirty="0"/>
            </a:br>
            <a:r>
              <a:rPr lang="en-US" sz="1500" dirty="0"/>
              <a:t>Source of the dataset used for loan prediction modeling. . </a:t>
            </a:r>
            <a:r>
              <a:rPr lang="en-US" sz="1500" dirty="0">
                <a:hlinkClick r:id="rId3"/>
              </a:rPr>
              <a:t>https://www.kaggle.com/datasets/laotse/credit-risk-dataset</a:t>
            </a:r>
            <a:endParaRPr lang="en-US" sz="1500" dirty="0"/>
          </a:p>
          <a:p>
            <a:pPr marL="0" indent="0">
              <a:lnSpc>
                <a:spcPct val="90000"/>
              </a:lnSpc>
              <a:buNone/>
            </a:pPr>
            <a:endParaRPr lang="en-US" sz="1500" dirty="0"/>
          </a:p>
          <a:p>
            <a:pPr>
              <a:lnSpc>
                <a:spcPct val="90000"/>
              </a:lnSpc>
            </a:pPr>
            <a:r>
              <a:rPr lang="en-US" sz="1500" b="1" dirty="0"/>
              <a:t>Databricks Documentation – Apache Spark </a:t>
            </a:r>
            <a:r>
              <a:rPr lang="en-US" sz="1500" dirty="0" err="1"/>
              <a:t>MLlibDatabricks</a:t>
            </a:r>
            <a:r>
              <a:rPr lang="en-US" sz="1500" dirty="0"/>
              <a:t> Documentation – Apache Spark MLlib</a:t>
            </a:r>
          </a:p>
          <a:p>
            <a:pPr>
              <a:lnSpc>
                <a:spcPct val="90000"/>
              </a:lnSpc>
            </a:pPr>
            <a:r>
              <a:rPr lang="en-US" sz="1500" dirty="0">
                <a:hlinkClick r:id="rId4"/>
              </a:rPr>
              <a:t>https://docs.databricks.com/machine-learning/index.html</a:t>
            </a:r>
            <a:endParaRPr lang="en-US" sz="1500" dirty="0"/>
          </a:p>
          <a:p>
            <a:pPr marL="0" indent="0">
              <a:lnSpc>
                <a:spcPct val="90000"/>
              </a:lnSpc>
              <a:buNone/>
            </a:pPr>
            <a:endParaRPr lang="en-US" sz="1400" b="1" dirty="0"/>
          </a:p>
          <a:p>
            <a:pPr>
              <a:lnSpc>
                <a:spcPct val="90000"/>
              </a:lnSpc>
            </a:pPr>
            <a:r>
              <a:rPr lang="en-US" sz="1400" b="1" i="0" dirty="0">
                <a:solidFill>
                  <a:srgbClr val="000000"/>
                </a:solidFill>
                <a:effectLst/>
                <a:latin typeface="__GeistSans_3a0388"/>
              </a:rPr>
              <a:t>Scikit-learn Documentation – Logistic Regression, Decision Tree concepts</a:t>
            </a:r>
            <a:r>
              <a:rPr lang="en-US" sz="1400" b="1" dirty="0"/>
              <a:t>      </a:t>
            </a:r>
            <a:r>
              <a:rPr lang="en-US" sz="1500" dirty="0">
                <a:hlinkClick r:id="rId5"/>
              </a:rPr>
              <a:t>https://scikit-learn.org/stable/supervised_learning.html</a:t>
            </a:r>
            <a:endParaRPr lang="en-US" sz="1500" dirty="0"/>
          </a:p>
          <a:p>
            <a:pPr marL="0" indent="0">
              <a:lnSpc>
                <a:spcPct val="90000"/>
              </a:lnSpc>
              <a:buNone/>
            </a:pPr>
            <a:endParaRPr lang="en-US" sz="1500" dirty="0"/>
          </a:p>
          <a:p>
            <a:pPr>
              <a:lnSpc>
                <a:spcPct val="90000"/>
              </a:lnSpc>
            </a:pPr>
            <a:r>
              <a:rPr lang="en-US" sz="1400" b="1" dirty="0">
                <a:solidFill>
                  <a:srgbClr val="000000"/>
                </a:solidFill>
                <a:latin typeface="__GeistSans_3a0388"/>
              </a:rPr>
              <a:t>Provost, F., &amp; Fawcett, T. </a:t>
            </a:r>
            <a:r>
              <a:rPr lang="en-US" sz="1400" dirty="0">
                <a:solidFill>
                  <a:srgbClr val="000000"/>
                </a:solidFill>
                <a:latin typeface="__GeistSans_3a0388"/>
              </a:rPr>
              <a:t>(2013). Data Science for Business: What You Need to Know About Data Mining and Data-Analytic Thinking. O'Reilly Media.</a:t>
            </a:r>
          </a:p>
          <a:p>
            <a:pPr marL="0" indent="0">
              <a:lnSpc>
                <a:spcPct val="90000"/>
              </a:lnSpc>
              <a:buNone/>
            </a:pPr>
            <a:endParaRPr lang="en-US" sz="1500" dirty="0"/>
          </a:p>
        </p:txBody>
      </p:sp>
    </p:spTree>
    <p:extLst>
      <p:ext uri="{BB962C8B-B14F-4D97-AF65-F5344CB8AC3E}">
        <p14:creationId xmlns:p14="http://schemas.microsoft.com/office/powerpoint/2010/main" val="466904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37f4b8a2-ad4f-41b5-9a91-284d2cc38f56}" enabled="1" method="Standard" siteId="{70de1992-07c6-480f-a318-a1afcba03983}" contentBits="0" removed="0"/>
</clbl:labelList>
</file>

<file path=docProps/app.xml><?xml version="1.0" encoding="utf-8"?>
<Properties xmlns="http://schemas.openxmlformats.org/officeDocument/2006/extended-properties" xmlns:vt="http://schemas.openxmlformats.org/officeDocument/2006/docPropsVTypes">
  <TotalTime>624</TotalTime>
  <Words>1750</Words>
  <Application>Microsoft Macintosh PowerPoint</Application>
  <PresentationFormat>On-screen Show (4:3)</PresentationFormat>
  <Paragraphs>343</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__GeistSans_3a0388</vt:lpstr>
      <vt:lpstr>Arial</vt:lpstr>
      <vt:lpstr>Calibri</vt:lpstr>
      <vt:lpstr>Times New Roman</vt:lpstr>
      <vt:lpstr>Office Theme</vt:lpstr>
      <vt:lpstr>Loan Approval Prediction Using Machine Learning</vt:lpstr>
      <vt:lpstr>Executive Summary</vt:lpstr>
      <vt:lpstr>Executive Summary</vt:lpstr>
      <vt:lpstr>Project Background</vt:lpstr>
      <vt:lpstr>Data Description</vt:lpstr>
      <vt:lpstr>Data Preparation</vt:lpstr>
      <vt:lpstr>Decision Tree Classifier</vt:lpstr>
      <vt:lpstr>Decision Tree Classifier</vt:lpstr>
      <vt:lpstr>Logistic Regression</vt:lpstr>
      <vt:lpstr>Logistic Regression</vt:lpstr>
      <vt:lpstr>Data Modeling</vt:lpstr>
      <vt:lpstr>Key Visualization</vt:lpstr>
      <vt:lpstr>Key Visualizations</vt:lpstr>
      <vt:lpstr>Findings</vt:lpstr>
      <vt:lpstr>Business Implications</vt:lpstr>
      <vt:lpstr>Conclusion</vt:lpstr>
      <vt:lpstr>Reference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Anuhya Gyarala</dc:creator>
  <cp:keywords/>
  <dc:description>generated using python-pptx</dc:description>
  <cp:lastModifiedBy>Edapalapati, Keerthi Chandrika</cp:lastModifiedBy>
  <cp:revision>37</cp:revision>
  <dcterms:created xsi:type="dcterms:W3CDTF">2013-01-27T09:14:16Z</dcterms:created>
  <dcterms:modified xsi:type="dcterms:W3CDTF">2025-05-01T00:13:02Z</dcterms:modified>
  <cp:category/>
</cp:coreProperties>
</file>